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1pPr>
    <a:lvl2pPr marL="0" marR="0" indent="457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2pPr>
    <a:lvl3pPr marL="0" marR="0" indent="914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3pPr>
    <a:lvl4pPr marL="0" marR="0" indent="1371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4pPr>
    <a:lvl5pPr marL="0" marR="0" indent="18288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5pPr>
    <a:lvl6pPr marL="0" marR="0" indent="22860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6pPr>
    <a:lvl7pPr marL="0" marR="0" indent="2743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7pPr>
    <a:lvl8pPr marL="0" marR="0" indent="3200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8pPr>
    <a:lvl9pPr marL="0" marR="0" indent="3657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
          <a:latin typeface="Graphik"/>
          <a:ea typeface="Graphik"/>
          <a:cs typeface="Graphik"/>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00A1FF"/>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solidFill>
        </a:fill>
      </a:tcStyle>
    </a:band2H>
    <a:firstCol>
      <a:tcTxStyle b="off" i="off">
        <a:font>
          <a:latin typeface="Graphik Medium"/>
          <a:ea typeface="Graphik Medium"/>
          <a:cs typeface="Graphik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13B100"/>
          </a:solidFill>
        </a:fill>
      </a:tcStyle>
    </a:firstCol>
    <a:lastRow>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Graphik Medium"/>
          <a:ea typeface="Graphik Medium"/>
          <a:cs typeface="Graphik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3">
              <a:hueOff val="552055"/>
              <a:lumOff val="-12548"/>
            </a:schemeClr>
          </a:solidFill>
        </a:fill>
      </a:tcStyle>
    </a:firstRow>
  </a:tblStyle>
  <a:tblStyle styleId="{CF821DB8-F4EB-4A41-A1BA-3FCAFE7338EE}" styleName="">
    <a:tblBg/>
    <a:wholeTbl>
      <a:tcTxStyle b="off" i="off">
        <a:font>
          <a:latin typeface="Graphik"/>
          <a:ea typeface="Graphik"/>
          <a:cs typeface="Graphik"/>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solidFill>
        </a:fill>
      </a:tcStyle>
    </a:band2H>
    <a:firstCol>
      <a:tcTxStyle b="off" i="off">
        <a:font>
          <a:latin typeface="Graphik Medium"/>
          <a:ea typeface="Graphik Medium"/>
          <a:cs typeface="Graphik Medium"/>
        </a:font>
        <a:srgbClr val="000000"/>
      </a:tcTxStyle>
      <a:tcStyle>
        <a:tcBdr>
          <a:left>
            <a:ln w="12700" cap="flat">
              <a:solidFill>
                <a:srgbClr val="E3E5E8"/>
              </a:solidFill>
              <a:prstDash val="solid"/>
              <a:miter lim="400000"/>
            </a:ln>
          </a:left>
          <a:right>
            <a:ln w="254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Graphik Medium"/>
          <a:ea typeface="Graphik Medium"/>
          <a:cs typeface="Graphik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
          <a:latin typeface="Graphik"/>
          <a:ea typeface="Graphik"/>
          <a:cs typeface="Graphik"/>
        </a:font>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64646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370"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Presentation Title"/>
          <p:cNvSpPr txBox="1">
            <a:spLocks noGrp="1"/>
          </p:cNvSpPr>
          <p:nvPr>
            <p:ph type="title" hasCustomPrompt="1"/>
          </p:nvPr>
        </p:nvSpPr>
        <p:spPr>
          <a:xfrm>
            <a:off x="1270000" y="3289300"/>
            <a:ext cx="21844000" cy="3879454"/>
          </a:xfrm>
          <a:prstGeom prst="rect">
            <a:avLst/>
          </a:prstGeom>
        </p:spPr>
        <p:txBody>
          <a:bodyPr/>
          <a:lstStyle>
            <a:lvl1pPr defTabSz="2438338">
              <a:lnSpc>
                <a:spcPct val="90000"/>
              </a:lnSpc>
              <a:defRPr sz="11600" spc="-348">
                <a:gradFill flip="none" rotWithShape="1">
                  <a:gsLst>
                    <a:gs pos="0">
                      <a:srgbClr val="00E8FF"/>
                    </a:gs>
                    <a:gs pos="100000">
                      <a:srgbClr val="FF00F7"/>
                    </a:gs>
                  </a:gsLst>
                  <a:lin ang="3967761" scaled="0"/>
                </a:gradFill>
              </a:defRPr>
            </a:lvl1pPr>
          </a:lstStyle>
          <a:p>
            <a:r>
              <a:t>Presentation Title</a:t>
            </a:r>
          </a:p>
        </p:txBody>
      </p:sp>
      <p:sp>
        <p:nvSpPr>
          <p:cNvPr id="12" name="Author and Date"/>
          <p:cNvSpPr txBox="1">
            <a:spLocks noGrp="1"/>
          </p:cNvSpPr>
          <p:nvPr>
            <p:ph type="body" sz="quarter" idx="21" hasCustomPrompt="1"/>
          </p:nvPr>
        </p:nvSpPr>
        <p:spPr>
          <a:xfrm>
            <a:off x="1270000" y="12160429"/>
            <a:ext cx="21844000" cy="694056"/>
          </a:xfrm>
          <a:prstGeom prst="rect">
            <a:avLst/>
          </a:prstGeom>
        </p:spPr>
        <p:txBody>
          <a:bodyPr/>
          <a:lstStyle>
            <a:lvl1pPr marL="0" indent="0" algn="ctr" defTabSz="825500">
              <a:spcBef>
                <a:spcPts val="0"/>
              </a:spcBef>
              <a:buClrTx/>
              <a:buSzTx/>
              <a:buNone/>
              <a:defRPr sz="3500">
                <a:solidFill>
                  <a:srgbClr val="D5D5D5"/>
                </a:solidFill>
                <a:latin typeface="Graphik Medium"/>
                <a:ea typeface="Graphik Medium"/>
                <a:cs typeface="Graphik Medium"/>
                <a:sym typeface="Graphik Medium"/>
              </a:defRPr>
            </a:lvl1pPr>
          </a:lstStyle>
          <a:p>
            <a:r>
              <a:t>Author and Date</a:t>
            </a:r>
          </a:p>
        </p:txBody>
      </p:sp>
      <p:sp>
        <p:nvSpPr>
          <p:cNvPr id="13" name="Body Level One…"/>
          <p:cNvSpPr txBox="1">
            <a:spLocks noGrp="1"/>
          </p:cNvSpPr>
          <p:nvPr>
            <p:ph type="body" sz="quarter" idx="1" hasCustomPrompt="1"/>
          </p:nvPr>
        </p:nvSpPr>
        <p:spPr>
          <a:xfrm>
            <a:off x="1270000" y="6985000"/>
            <a:ext cx="21844000" cy="2512352"/>
          </a:xfrm>
          <a:prstGeom prst="rect">
            <a:avLst/>
          </a:prstGeom>
        </p:spPr>
        <p:txBody>
          <a:bodyPr/>
          <a:lstStyle>
            <a:lvl1pPr marL="0" indent="0" algn="ctr" defTabSz="825500">
              <a:spcBef>
                <a:spcPts val="0"/>
              </a:spcBef>
              <a:buClrTx/>
              <a:buSzTx/>
              <a:buNone/>
              <a:defRPr sz="6400">
                <a:solidFill>
                  <a:srgbClr val="D5D5D5"/>
                </a:solidFill>
                <a:latin typeface="Graphik Medium"/>
                <a:ea typeface="Graphik Medium"/>
                <a:cs typeface="Graphik Medium"/>
                <a:sym typeface="Graphik Medium"/>
              </a:defRPr>
            </a:lvl1pPr>
            <a:lvl2pPr marL="0" indent="0" algn="ctr" defTabSz="825500">
              <a:spcBef>
                <a:spcPts val="0"/>
              </a:spcBef>
              <a:buClrTx/>
              <a:buSzTx/>
              <a:buNone/>
              <a:defRPr sz="6400">
                <a:solidFill>
                  <a:srgbClr val="D5D5D5"/>
                </a:solidFill>
                <a:latin typeface="Graphik Medium"/>
                <a:ea typeface="Graphik Medium"/>
                <a:cs typeface="Graphik Medium"/>
                <a:sym typeface="Graphik Medium"/>
              </a:defRPr>
            </a:lvl2pPr>
            <a:lvl3pPr marL="0" indent="0" algn="ctr" defTabSz="825500">
              <a:spcBef>
                <a:spcPts val="0"/>
              </a:spcBef>
              <a:buClrTx/>
              <a:buSzTx/>
              <a:buNone/>
              <a:defRPr sz="6400">
                <a:solidFill>
                  <a:srgbClr val="D5D5D5"/>
                </a:solidFill>
                <a:latin typeface="Graphik Medium"/>
                <a:ea typeface="Graphik Medium"/>
                <a:cs typeface="Graphik Medium"/>
                <a:sym typeface="Graphik Medium"/>
              </a:defRPr>
            </a:lvl3pPr>
            <a:lvl4pPr marL="0" indent="0" algn="ctr" defTabSz="825500">
              <a:spcBef>
                <a:spcPts val="0"/>
              </a:spcBef>
              <a:buClrTx/>
              <a:buSzTx/>
              <a:buNone/>
              <a:defRPr sz="6400">
                <a:solidFill>
                  <a:srgbClr val="D5D5D5"/>
                </a:solidFill>
                <a:latin typeface="Graphik Medium"/>
                <a:ea typeface="Graphik Medium"/>
                <a:cs typeface="Graphik Medium"/>
                <a:sym typeface="Graphik Medium"/>
              </a:defRPr>
            </a:lvl4pPr>
            <a:lvl5pPr marL="0" indent="0" algn="ctr" defTabSz="825500">
              <a:spcBef>
                <a:spcPts val="0"/>
              </a:spcBef>
              <a:buClrTx/>
              <a:buSzTx/>
              <a:buNone/>
              <a:defRPr sz="6400">
                <a:solidFill>
                  <a:srgbClr val="D5D5D5"/>
                </a:solidFill>
                <a:latin typeface="Graphik Medium"/>
                <a:ea typeface="Graphik Medium"/>
                <a:cs typeface="Graphik Medium"/>
                <a:sym typeface="Graphik Medium"/>
              </a:defRPr>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Northern Lights display in a dark night sky over mountains"/>
          <p:cNvSpPr>
            <a:spLocks noGrp="1"/>
          </p:cNvSpPr>
          <p:nvPr>
            <p:ph type="pic" idx="21"/>
          </p:nvPr>
        </p:nvSpPr>
        <p:spPr>
          <a:xfrm>
            <a:off x="0" y="-762000"/>
            <a:ext cx="24384000" cy="15240000"/>
          </a:xfrm>
          <a:prstGeom prst="rect">
            <a:avLst/>
          </a:prstGeom>
        </p:spPr>
        <p:txBody>
          <a:bodyPr lIns="91439" tIns="45719" rIns="91439" bIns="45719">
            <a:noAutofit/>
          </a:bodyPr>
          <a:lstStyle/>
          <a:p>
            <a:endParaRPr/>
          </a:p>
        </p:txBody>
      </p:sp>
      <p:sp>
        <p:nvSpPr>
          <p:cNvPr id="22" name="Author and Date"/>
          <p:cNvSpPr txBox="1">
            <a:spLocks noGrp="1"/>
          </p:cNvSpPr>
          <p:nvPr>
            <p:ph type="body" sz="quarter" idx="22" hasCustomPrompt="1"/>
          </p:nvPr>
        </p:nvSpPr>
        <p:spPr>
          <a:xfrm>
            <a:off x="1270000" y="12166600"/>
            <a:ext cx="21844000" cy="694055"/>
          </a:xfrm>
          <a:prstGeom prst="rect">
            <a:avLst/>
          </a:prstGeom>
        </p:spPr>
        <p:txBody>
          <a:bodyPr/>
          <a:lstStyle>
            <a:lvl1pPr marL="0" indent="0" algn="ctr" defTabSz="825500">
              <a:spcBef>
                <a:spcPts val="0"/>
              </a:spcBef>
              <a:buClrTx/>
              <a:buSzTx/>
              <a:buNone/>
              <a:defRPr sz="3500">
                <a:solidFill>
                  <a:srgbClr val="D5D5D5"/>
                </a:solidFill>
                <a:latin typeface="Graphik Medium"/>
                <a:ea typeface="Graphik Medium"/>
                <a:cs typeface="Graphik Medium"/>
                <a:sym typeface="Graphik Medium"/>
              </a:defRPr>
            </a:lvl1pPr>
          </a:lstStyle>
          <a:p>
            <a:r>
              <a:t>Author and Date</a:t>
            </a:r>
          </a:p>
        </p:txBody>
      </p:sp>
      <p:sp>
        <p:nvSpPr>
          <p:cNvPr id="23" name="Presentation Title"/>
          <p:cNvSpPr txBox="1">
            <a:spLocks noGrp="1"/>
          </p:cNvSpPr>
          <p:nvPr>
            <p:ph type="title" hasCustomPrompt="1"/>
          </p:nvPr>
        </p:nvSpPr>
        <p:spPr>
          <a:xfrm>
            <a:off x="1270000" y="3289300"/>
            <a:ext cx="21844000" cy="3873500"/>
          </a:xfrm>
          <a:prstGeom prst="rect">
            <a:avLst/>
          </a:prstGeom>
        </p:spPr>
        <p:txBody>
          <a:bodyPr/>
          <a:lstStyle>
            <a:lvl1pPr defTabSz="2438400">
              <a:lnSpc>
                <a:spcPct val="90000"/>
              </a:lnSpc>
              <a:defRPr sz="11600" spc="-348">
                <a:gradFill flip="none" rotWithShape="1">
                  <a:gsLst>
                    <a:gs pos="0">
                      <a:srgbClr val="FFFFFF"/>
                    </a:gs>
                    <a:gs pos="100000">
                      <a:srgbClr val="929292"/>
                    </a:gs>
                  </a:gsLst>
                  <a:lin ang="5400000" scaled="0"/>
                </a:gradFill>
              </a:defRPr>
            </a:lvl1pPr>
          </a:lstStyle>
          <a:p>
            <a:r>
              <a:t>Presentation Title</a:t>
            </a:r>
          </a:p>
        </p:txBody>
      </p:sp>
      <p:sp>
        <p:nvSpPr>
          <p:cNvPr id="24" name="Body Level One…"/>
          <p:cNvSpPr txBox="1">
            <a:spLocks noGrp="1"/>
          </p:cNvSpPr>
          <p:nvPr>
            <p:ph type="body" sz="quarter" idx="1" hasCustomPrompt="1"/>
          </p:nvPr>
        </p:nvSpPr>
        <p:spPr>
          <a:xfrm>
            <a:off x="1270000" y="6985000"/>
            <a:ext cx="21844000" cy="2514600"/>
          </a:xfrm>
          <a:prstGeom prst="rect">
            <a:avLst/>
          </a:prstGeom>
        </p:spPr>
        <p:txBody>
          <a:bodyPr/>
          <a:lstStyle>
            <a:lvl1pPr marL="0" indent="0" algn="ctr" defTabSz="825500">
              <a:spcBef>
                <a:spcPts val="0"/>
              </a:spcBef>
              <a:buClrTx/>
              <a:buSzTx/>
              <a:buNone/>
              <a:defRPr sz="6400">
                <a:solidFill>
                  <a:srgbClr val="D5D5D5"/>
                </a:solidFill>
                <a:latin typeface="Graphik Medium"/>
                <a:ea typeface="Graphik Medium"/>
                <a:cs typeface="Graphik Medium"/>
                <a:sym typeface="Graphik Medium"/>
              </a:defRPr>
            </a:lvl1pPr>
            <a:lvl2pPr marL="0" indent="0" algn="ctr" defTabSz="825500">
              <a:spcBef>
                <a:spcPts val="0"/>
              </a:spcBef>
              <a:buClrTx/>
              <a:buSzTx/>
              <a:buNone/>
              <a:defRPr sz="6400">
                <a:solidFill>
                  <a:srgbClr val="D5D5D5"/>
                </a:solidFill>
                <a:latin typeface="Graphik Medium"/>
                <a:ea typeface="Graphik Medium"/>
                <a:cs typeface="Graphik Medium"/>
                <a:sym typeface="Graphik Medium"/>
              </a:defRPr>
            </a:lvl2pPr>
            <a:lvl3pPr marL="0" indent="0" algn="ctr" defTabSz="825500">
              <a:spcBef>
                <a:spcPts val="0"/>
              </a:spcBef>
              <a:buClrTx/>
              <a:buSzTx/>
              <a:buNone/>
              <a:defRPr sz="6400">
                <a:solidFill>
                  <a:srgbClr val="D5D5D5"/>
                </a:solidFill>
                <a:latin typeface="Graphik Medium"/>
                <a:ea typeface="Graphik Medium"/>
                <a:cs typeface="Graphik Medium"/>
                <a:sym typeface="Graphik Medium"/>
              </a:defRPr>
            </a:lvl3pPr>
            <a:lvl4pPr marL="0" indent="0" algn="ctr" defTabSz="825500">
              <a:spcBef>
                <a:spcPts val="0"/>
              </a:spcBef>
              <a:buClrTx/>
              <a:buSzTx/>
              <a:buNone/>
              <a:defRPr sz="6400">
                <a:solidFill>
                  <a:srgbClr val="D5D5D5"/>
                </a:solidFill>
                <a:latin typeface="Graphik Medium"/>
                <a:ea typeface="Graphik Medium"/>
                <a:cs typeface="Graphik Medium"/>
                <a:sym typeface="Graphik Medium"/>
              </a:defRPr>
            </a:lvl4pPr>
            <a:lvl5pPr marL="0" indent="0" algn="ctr" defTabSz="825500">
              <a:spcBef>
                <a:spcPts val="0"/>
              </a:spcBef>
              <a:buClrTx/>
              <a:buSzTx/>
              <a:buNone/>
              <a:defRPr sz="6400">
                <a:solidFill>
                  <a:srgbClr val="D5D5D5"/>
                </a:solidFill>
                <a:latin typeface="Graphik Medium"/>
                <a:ea typeface="Graphik Medium"/>
                <a:cs typeface="Graphik Medium"/>
                <a:sym typeface="Graphik Medium"/>
              </a:defRPr>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Colourful clouds against a starry night sky"/>
          <p:cNvSpPr>
            <a:spLocks noGrp="1"/>
          </p:cNvSpPr>
          <p:nvPr>
            <p:ph type="pic" idx="21"/>
          </p:nvPr>
        </p:nvSpPr>
        <p:spPr>
          <a:xfrm>
            <a:off x="7962900" y="-25400"/>
            <a:ext cx="20650200" cy="137668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70000" y="3886200"/>
            <a:ext cx="9652000" cy="3200202"/>
          </a:xfrm>
          <a:prstGeom prst="rect">
            <a:avLst/>
          </a:prstGeom>
        </p:spPr>
        <p:txBody>
          <a:bodyPr/>
          <a:lstStyle/>
          <a:p>
            <a:r>
              <a:t>Slide Title</a:t>
            </a:r>
          </a:p>
        </p:txBody>
      </p:sp>
      <p:sp>
        <p:nvSpPr>
          <p:cNvPr id="34" name="Body Level One…"/>
          <p:cNvSpPr txBox="1">
            <a:spLocks noGrp="1"/>
          </p:cNvSpPr>
          <p:nvPr>
            <p:ph type="body" sz="quarter" idx="1" hasCustomPrompt="1"/>
          </p:nvPr>
        </p:nvSpPr>
        <p:spPr>
          <a:xfrm>
            <a:off x="1270000" y="6845300"/>
            <a:ext cx="9652000" cy="5664200"/>
          </a:xfrm>
          <a:prstGeom prst="rect">
            <a:avLst/>
          </a:prstGeom>
        </p:spPr>
        <p:txBody>
          <a:bodyPr/>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vl2pPr marL="0" indent="457200" algn="ctr" defTabSz="825500">
              <a:spcBef>
                <a:spcPts val="0"/>
              </a:spcBef>
              <a:buClrTx/>
              <a:buSzTx/>
              <a:buNone/>
              <a:defRPr sz="5400">
                <a:solidFill>
                  <a:srgbClr val="D5D5D5"/>
                </a:solidFill>
                <a:latin typeface="Graphik Medium"/>
                <a:ea typeface="Graphik Medium"/>
                <a:cs typeface="Graphik Medium"/>
                <a:sym typeface="Graphik Medium"/>
              </a:defRPr>
            </a:lvl2pPr>
            <a:lvl3pPr marL="0" indent="914400" algn="ctr" defTabSz="825500">
              <a:spcBef>
                <a:spcPts val="0"/>
              </a:spcBef>
              <a:buClrTx/>
              <a:buSzTx/>
              <a:buNone/>
              <a:defRPr sz="5400">
                <a:solidFill>
                  <a:srgbClr val="D5D5D5"/>
                </a:solidFill>
                <a:latin typeface="Graphik Medium"/>
                <a:ea typeface="Graphik Medium"/>
                <a:cs typeface="Graphik Medium"/>
                <a:sym typeface="Graphik Medium"/>
              </a:defRPr>
            </a:lvl3pPr>
            <a:lvl4pPr marL="0" indent="1371600" algn="ctr" defTabSz="825500">
              <a:spcBef>
                <a:spcPts val="0"/>
              </a:spcBef>
              <a:buClrTx/>
              <a:buSzTx/>
              <a:buNone/>
              <a:defRPr sz="5400">
                <a:solidFill>
                  <a:srgbClr val="D5D5D5"/>
                </a:solidFill>
                <a:latin typeface="Graphik Medium"/>
                <a:ea typeface="Graphik Medium"/>
                <a:cs typeface="Graphik Medium"/>
                <a:sym typeface="Graphik Medium"/>
              </a:defRPr>
            </a:lvl4pPr>
            <a:lvl5pPr marL="0" indent="1828800" algn="ctr" defTabSz="825500">
              <a:spcBef>
                <a:spcPts val="0"/>
              </a:spcBef>
              <a:buClrTx/>
              <a:buSzTx/>
              <a:buNone/>
              <a:defRPr sz="5400">
                <a:solidFill>
                  <a:srgbClr val="D5D5D5"/>
                </a:solidFill>
                <a:latin typeface="Graphik Medium"/>
                <a:ea typeface="Graphik Medium"/>
                <a:cs typeface="Graphik Medium"/>
                <a:sym typeface="Graphik Medium"/>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xfrm>
            <a:off x="1270000" y="4269316"/>
            <a:ext cx="21844000" cy="8432801"/>
          </a:xfrm>
          <a:prstGeom prst="rect">
            <a:avLst/>
          </a:prstGeom>
        </p:spPr>
        <p:txBody>
          <a:bodyPr numCol="2" spcCol="109220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Northern Lights display over a snowy mountain landscape"/>
          <p:cNvSpPr>
            <a:spLocks noGrp="1"/>
          </p:cNvSpPr>
          <p:nvPr>
            <p:ph type="pic" idx="21"/>
          </p:nvPr>
        </p:nvSpPr>
        <p:spPr>
          <a:xfrm>
            <a:off x="12204700" y="-2277533"/>
            <a:ext cx="12192000" cy="18271067"/>
          </a:xfrm>
          <a:prstGeom prst="rect">
            <a:avLst/>
          </a:prstGeom>
        </p:spPr>
        <p:txBody>
          <a:bodyPr lIns="91439" tIns="45719" rIns="91439" bIns="45719">
            <a:noAutofit/>
          </a:bodyPr>
          <a:lstStyle/>
          <a:p>
            <a:endParaRPr/>
          </a:p>
        </p:txBody>
      </p:sp>
      <p:sp>
        <p:nvSpPr>
          <p:cNvPr id="61" name="Slide Title"/>
          <p:cNvSpPr txBox="1">
            <a:spLocks noGrp="1"/>
          </p:cNvSpPr>
          <p:nvPr>
            <p:ph type="title" hasCustomPrompt="1"/>
          </p:nvPr>
        </p:nvSpPr>
        <p:spPr>
          <a:xfrm>
            <a:off x="1270000" y="838200"/>
            <a:ext cx="9652000" cy="1549400"/>
          </a:xfrm>
          <a:prstGeom prst="rect">
            <a:avLst/>
          </a:prstGeom>
        </p:spPr>
        <p:txBody>
          <a:bodyPr/>
          <a:lstStyle/>
          <a:p>
            <a:r>
              <a:t>Slide Title</a:t>
            </a:r>
          </a:p>
        </p:txBody>
      </p:sp>
      <p:sp>
        <p:nvSpPr>
          <p:cNvPr id="62" name="Body Level One…"/>
          <p:cNvSpPr txBox="1">
            <a:spLocks noGrp="1"/>
          </p:cNvSpPr>
          <p:nvPr>
            <p:ph type="body" sz="half" idx="1" hasCustomPrompt="1"/>
          </p:nvPr>
        </p:nvSpPr>
        <p:spPr>
          <a:xfrm>
            <a:off x="1270000" y="4267200"/>
            <a:ext cx="9652000" cy="8432800"/>
          </a:xfrm>
          <a:prstGeom prst="rect">
            <a:avLst/>
          </a:prstGeom>
        </p:spPr>
        <p:txBody>
          <a:bodyPr/>
          <a:lstStyle/>
          <a:p>
            <a:r>
              <a:t>Slide bullet text</a:t>
            </a:r>
          </a:p>
          <a:p>
            <a:pPr lvl="1"/>
            <a:endParaRPr/>
          </a:p>
          <a:p>
            <a:pPr lvl="2"/>
            <a:endParaRPr/>
          </a:p>
          <a:p>
            <a:pPr lvl="3"/>
            <a:endParaRPr/>
          </a:p>
          <a:p>
            <a:pPr lvl="4"/>
            <a:endParaRPr/>
          </a:p>
        </p:txBody>
      </p:sp>
      <p:sp>
        <p:nvSpPr>
          <p:cNvPr id="63" name="Slide Subtitle"/>
          <p:cNvSpPr txBox="1">
            <a:spLocks noGrp="1"/>
          </p:cNvSpPr>
          <p:nvPr>
            <p:ph type="body" sz="quarter" idx="22"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stStyle>
          <a:p>
            <a:r>
              <a:t>Slide Subtitle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1270000" y="838200"/>
            <a:ext cx="9652000" cy="1549400"/>
          </a:xfrm>
          <a:prstGeom prst="rect">
            <a:avLst/>
          </a:prstGeom>
        </p:spPr>
        <p:txBody>
          <a:bodyPr/>
          <a:lstStyle/>
          <a:p>
            <a:r>
              <a:t>Slide Title</a:t>
            </a:r>
          </a:p>
        </p:txBody>
      </p:sp>
      <p:sp>
        <p:nvSpPr>
          <p:cNvPr id="72" name="Body Level One…"/>
          <p:cNvSpPr txBox="1">
            <a:spLocks noGrp="1"/>
          </p:cNvSpPr>
          <p:nvPr>
            <p:ph type="body" sz="half" idx="1" hasCustomPrompt="1"/>
          </p:nvPr>
        </p:nvSpPr>
        <p:spPr>
          <a:xfrm>
            <a:off x="1270000" y="4267200"/>
            <a:ext cx="9652000" cy="8432800"/>
          </a:xfrm>
          <a:prstGeom prst="rect">
            <a:avLst/>
          </a:prstGeom>
        </p:spPr>
        <p:txBody>
          <a:bodyPr/>
          <a:lstStyle/>
          <a:p>
            <a:r>
              <a:t>Slide bullet text</a:t>
            </a:r>
          </a:p>
          <a:p>
            <a:pPr lvl="1"/>
            <a:endParaRPr/>
          </a:p>
          <a:p>
            <a:pPr lvl="2"/>
            <a:endParaRPr/>
          </a:p>
          <a:p>
            <a:pPr lvl="3"/>
            <a:endParaRPr/>
          </a:p>
          <a:p>
            <a:pPr lvl="4"/>
            <a:endParaRPr/>
          </a:p>
        </p:txBody>
      </p:sp>
      <p:sp>
        <p:nvSpPr>
          <p:cNvPr id="73" name="Slide Subtitle"/>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stStyle>
          <a:p>
            <a:r>
              <a:t>Slide Subtitle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70000" y="838200"/>
            <a:ext cx="9652000" cy="1549400"/>
          </a:xfrm>
          <a:prstGeom prst="rect">
            <a:avLst/>
          </a:prstGeom>
        </p:spPr>
        <p:txBody>
          <a:bodyPr/>
          <a:lstStyle/>
          <a:p>
            <a:r>
              <a:t>Slide Title</a:t>
            </a:r>
          </a:p>
        </p:txBody>
      </p:sp>
      <p:sp>
        <p:nvSpPr>
          <p:cNvPr id="82" name="Body Level One…"/>
          <p:cNvSpPr txBox="1">
            <a:spLocks noGrp="1"/>
          </p:cNvSpPr>
          <p:nvPr>
            <p:ph type="body" sz="half" idx="1" hasCustomPrompt="1"/>
          </p:nvPr>
        </p:nvSpPr>
        <p:spPr>
          <a:xfrm>
            <a:off x="1270000" y="4267200"/>
            <a:ext cx="9652000" cy="8432800"/>
          </a:xfrm>
          <a:prstGeom prst="rect">
            <a:avLst/>
          </a:prstGeom>
        </p:spPr>
        <p:txBody>
          <a:bodyPr/>
          <a:lstStyle/>
          <a:p>
            <a:r>
              <a:t>Slide bullet text</a:t>
            </a:r>
          </a:p>
          <a:p>
            <a:pPr lvl="1"/>
            <a:endParaRPr/>
          </a:p>
          <a:p>
            <a:pPr lvl="2"/>
            <a:endParaRPr/>
          </a:p>
          <a:p>
            <a:pPr lvl="3"/>
            <a:endParaRPr/>
          </a:p>
          <a:p>
            <a:pPr lvl="4"/>
            <a:endParaRPr/>
          </a:p>
        </p:txBody>
      </p:sp>
      <p:sp>
        <p:nvSpPr>
          <p:cNvPr id="83" name="Slide Subtitle"/>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stStyle>
          <a:p>
            <a:r>
              <a:t>Slide Subtitle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70000" y="3289300"/>
            <a:ext cx="21844000" cy="3873500"/>
          </a:xfrm>
          <a:prstGeom prst="rect">
            <a:avLst/>
          </a:prstGeom>
        </p:spPr>
        <p:txBody>
          <a:bodyPr/>
          <a:lstStyle>
            <a:lvl1pPr>
              <a:lnSpc>
                <a:spcPct val="90000"/>
              </a:lnSpc>
              <a:defRPr sz="11600" spc="-348">
                <a:gradFill flip="none" rotWithShape="1">
                  <a:gsLst>
                    <a:gs pos="0">
                      <a:srgbClr val="00FF00"/>
                    </a:gs>
                    <a:gs pos="100000">
                      <a:srgbClr val="007DFF"/>
                    </a:gs>
                  </a:gsLst>
                  <a:lin ang="3965999" scaled="0"/>
                </a:gradFill>
              </a:defRPr>
            </a:lvl1pPr>
          </a:lstStyle>
          <a:p>
            <a:r>
              <a:t>Section Title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70000" y="812800"/>
            <a:ext cx="21844000" cy="1562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825500">
              <a:spcBef>
                <a:spcPts val="0"/>
              </a:spcBef>
              <a:buClrTx/>
              <a:buSzTx/>
              <a:buNone/>
              <a:defRPr sz="5400">
                <a:solidFill>
                  <a:srgbClr val="D5D5D5"/>
                </a:solidFill>
                <a:latin typeface="Graphik Medium"/>
                <a:ea typeface="Graphik Medium"/>
                <a:cs typeface="Graphik Medium"/>
                <a:sym typeface="Graphik Medium"/>
              </a:defRPr>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buClrTx/>
              <a:buSzTx/>
              <a:buNone/>
              <a:defRPr sz="5500" spc="-55"/>
            </a:lvl1pPr>
            <a:lvl2pPr marL="0" indent="457200" defTabSz="825500">
              <a:buClrTx/>
              <a:buSzTx/>
              <a:buNone/>
              <a:defRPr sz="5500" spc="-55"/>
            </a:lvl2pPr>
            <a:lvl3pPr marL="0" indent="914400" defTabSz="825500">
              <a:buClrTx/>
              <a:buSzTx/>
              <a:buNone/>
              <a:defRPr sz="5500" spc="-55"/>
            </a:lvl3pPr>
            <a:lvl4pPr marL="0" indent="1371600" defTabSz="825500">
              <a:buClrTx/>
              <a:buSzTx/>
              <a:buNone/>
              <a:defRPr sz="5500" spc="-55"/>
            </a:lvl4pPr>
            <a:lvl5pPr marL="0" indent="1828800" defTabSz="825500">
              <a:buClrTx/>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70000" y="4546600"/>
            <a:ext cx="21844000" cy="4678065"/>
          </a:xfrm>
          <a:prstGeom prst="rect">
            <a:avLst/>
          </a:prstGeom>
        </p:spPr>
        <p:txBody>
          <a:bodyPr anchor="ctr"/>
          <a:lstStyle>
            <a:lvl1pPr marL="0" indent="0" algn="ctr">
              <a:spcBef>
                <a:spcPts val="0"/>
              </a:spcBef>
              <a:buClrTx/>
              <a:buSzTx/>
              <a:buNone/>
              <a:defRPr sz="8400" spc="-252">
                <a:gradFill flip="none" rotWithShape="1">
                  <a:gsLst>
                    <a:gs pos="0">
                      <a:srgbClr val="FFFFFF"/>
                    </a:gs>
                    <a:gs pos="100000">
                      <a:srgbClr val="929292"/>
                    </a:gs>
                  </a:gsLst>
                  <a:lin ang="5400000" scaled="0"/>
                </a:gradFill>
                <a:latin typeface="Graphik Medium"/>
                <a:ea typeface="Graphik Medium"/>
                <a:cs typeface="Graphik Medium"/>
                <a:sym typeface="Graphik Medium"/>
              </a:defRPr>
            </a:lvl1pPr>
            <a:lvl2pPr marL="0" indent="457200" algn="ctr">
              <a:spcBef>
                <a:spcPts val="0"/>
              </a:spcBef>
              <a:buClrTx/>
              <a:buSzTx/>
              <a:buNone/>
              <a:defRPr sz="8400" spc="-252">
                <a:gradFill flip="none" rotWithShape="1">
                  <a:gsLst>
                    <a:gs pos="0">
                      <a:srgbClr val="FFFFFF"/>
                    </a:gs>
                    <a:gs pos="100000">
                      <a:srgbClr val="929292"/>
                    </a:gs>
                  </a:gsLst>
                  <a:lin ang="5400000" scaled="0"/>
                </a:gradFill>
                <a:latin typeface="Graphik Medium"/>
                <a:ea typeface="Graphik Medium"/>
                <a:cs typeface="Graphik Medium"/>
                <a:sym typeface="Graphik Medium"/>
              </a:defRPr>
            </a:lvl2pPr>
            <a:lvl3pPr marL="0" indent="914400" algn="ctr">
              <a:spcBef>
                <a:spcPts val="0"/>
              </a:spcBef>
              <a:buClrTx/>
              <a:buSzTx/>
              <a:buNone/>
              <a:defRPr sz="8400" spc="-252">
                <a:gradFill flip="none" rotWithShape="1">
                  <a:gsLst>
                    <a:gs pos="0">
                      <a:srgbClr val="FFFFFF"/>
                    </a:gs>
                    <a:gs pos="100000">
                      <a:srgbClr val="929292"/>
                    </a:gs>
                  </a:gsLst>
                  <a:lin ang="5400000" scaled="0"/>
                </a:gradFill>
                <a:latin typeface="Graphik Medium"/>
                <a:ea typeface="Graphik Medium"/>
                <a:cs typeface="Graphik Medium"/>
                <a:sym typeface="Graphik Medium"/>
              </a:defRPr>
            </a:lvl3pPr>
            <a:lvl4pPr marL="0" indent="1371600" algn="ctr">
              <a:spcBef>
                <a:spcPts val="0"/>
              </a:spcBef>
              <a:buClrTx/>
              <a:buSzTx/>
              <a:buNone/>
              <a:defRPr sz="8400" spc="-252">
                <a:gradFill flip="none" rotWithShape="1">
                  <a:gsLst>
                    <a:gs pos="0">
                      <a:srgbClr val="FFFFFF"/>
                    </a:gs>
                    <a:gs pos="100000">
                      <a:srgbClr val="929292"/>
                    </a:gs>
                  </a:gsLst>
                  <a:lin ang="5400000" scaled="0"/>
                </a:gradFill>
                <a:latin typeface="Graphik Medium"/>
                <a:ea typeface="Graphik Medium"/>
                <a:cs typeface="Graphik Medium"/>
                <a:sym typeface="Graphik Medium"/>
              </a:defRPr>
            </a:lvl4pPr>
            <a:lvl5pPr marL="0" indent="1828800" algn="ctr">
              <a:spcBef>
                <a:spcPts val="0"/>
              </a:spcBef>
              <a:buClrTx/>
              <a:buSzTx/>
              <a:buNone/>
              <a:defRPr sz="8400" spc="-252">
                <a:gradFill flip="none" rotWithShape="1">
                  <a:gsLst>
                    <a:gs pos="0">
                      <a:srgbClr val="FFFFFF"/>
                    </a:gs>
                    <a:gs pos="100000">
                      <a:srgbClr val="929292"/>
                    </a:gs>
                  </a:gsLst>
                  <a:lin ang="5400000" scaled="0"/>
                </a:gradFill>
                <a:latin typeface="Graphik Medium"/>
                <a:ea typeface="Graphik Medium"/>
                <a:cs typeface="Graphik Medium"/>
                <a:sym typeface="Graphik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sz="half" idx="1" hasCustomPrompt="1"/>
          </p:nvPr>
        </p:nvSpPr>
        <p:spPr>
          <a:xfrm>
            <a:off x="1270000" y="3906096"/>
            <a:ext cx="21844000" cy="4488604"/>
          </a:xfrm>
          <a:prstGeom prst="rect">
            <a:avLst/>
          </a:prstGeom>
        </p:spPr>
        <p:txBody>
          <a:bodyPr anchor="b"/>
          <a:lstStyle>
            <a:lvl1pPr marL="0" indent="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1pPr>
            <a:lvl2pPr marL="0" indent="4572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2pPr>
            <a:lvl3pPr marL="0" indent="9144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3pPr>
            <a:lvl4pPr marL="0" indent="13716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4pPr>
            <a:lvl5pPr marL="0" indent="18288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70000" y="8521700"/>
            <a:ext cx="21844000" cy="1016000"/>
          </a:xfrm>
          <a:prstGeom prst="rect">
            <a:avLst/>
          </a:prstGeom>
        </p:spPr>
        <p:txBody>
          <a:bodyPr/>
          <a:lstStyle>
            <a:lvl1pPr marL="0" indent="0" algn="ctr" defTabSz="825500">
              <a:spcBef>
                <a:spcPts val="0"/>
              </a:spcBef>
              <a:buClrTx/>
              <a:buSzTx/>
              <a:buNone/>
              <a:defRPr sz="4400">
                <a:solidFill>
                  <a:srgbClr val="D5D5D5"/>
                </a:solidFill>
                <a:latin typeface="Graphik Medium"/>
                <a:ea typeface="Graphik Medium"/>
                <a:cs typeface="Graphik Medium"/>
                <a:sym typeface="Graphik Medium"/>
              </a:defRPr>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1270000" y="11155086"/>
            <a:ext cx="21844000" cy="832613"/>
          </a:xfrm>
          <a:prstGeom prst="rect">
            <a:avLst/>
          </a:prstGeom>
        </p:spPr>
        <p:txBody>
          <a:bodyPr anchor="ctr"/>
          <a:lstStyle>
            <a:lvl1pPr marL="0" indent="0" algn="ctr" defTabSz="825500">
              <a:spcBef>
                <a:spcPts val="0"/>
              </a:spcBef>
              <a:buClrTx/>
              <a:buSzTx/>
              <a:buNone/>
              <a:defRPr sz="4400">
                <a:solidFill>
                  <a:srgbClr val="D5D5D5"/>
                </a:solidFill>
                <a:latin typeface="Graphik Medium"/>
                <a:ea typeface="Graphik Medium"/>
                <a:cs typeface="Graphik Medium"/>
                <a:sym typeface="Graphik Medium"/>
              </a:defRPr>
            </a:lvl1pPr>
          </a:lstStyle>
          <a:p>
            <a:r>
              <a:t>Attribution</a:t>
            </a:r>
          </a:p>
        </p:txBody>
      </p:sp>
      <p:sp>
        <p:nvSpPr>
          <p:cNvPr id="136" name="Body Level One…"/>
          <p:cNvSpPr txBox="1">
            <a:spLocks noGrp="1"/>
          </p:cNvSpPr>
          <p:nvPr>
            <p:ph type="body" sz="half" idx="1" hasCustomPrompt="1"/>
          </p:nvPr>
        </p:nvSpPr>
        <p:spPr>
          <a:xfrm>
            <a:off x="1270000" y="4659369"/>
            <a:ext cx="21844000" cy="4394201"/>
          </a:xfrm>
          <a:prstGeom prst="rect">
            <a:avLst/>
          </a:prstGeom>
        </p:spPr>
        <p:txBody>
          <a:bodyPr anchor="ctr"/>
          <a:lstStyle>
            <a:lvl1pPr marL="0" indent="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1pPr>
            <a:lvl2pPr marL="0" indent="4572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2pPr>
            <a:lvl3pPr marL="0" indent="9144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3pPr>
            <a:lvl4pPr marL="0" indent="13716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4pPr>
            <a:lvl5pPr marL="0" indent="18288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Northern Lights display over a snowy landscape"/>
          <p:cNvSpPr>
            <a:spLocks noGrp="1"/>
          </p:cNvSpPr>
          <p:nvPr>
            <p:ph type="pic" sz="half" idx="21"/>
          </p:nvPr>
        </p:nvSpPr>
        <p:spPr>
          <a:xfrm>
            <a:off x="12192000" y="6229350"/>
            <a:ext cx="12192000" cy="8128000"/>
          </a:xfrm>
          <a:prstGeom prst="rect">
            <a:avLst/>
          </a:prstGeom>
        </p:spPr>
        <p:txBody>
          <a:bodyPr lIns="91439" tIns="45719" rIns="91439" bIns="45719">
            <a:noAutofit/>
          </a:bodyPr>
          <a:lstStyle/>
          <a:p>
            <a:endParaRPr/>
          </a:p>
        </p:txBody>
      </p:sp>
      <p:sp>
        <p:nvSpPr>
          <p:cNvPr id="145" name="Colourful clouds against a starry night sky"/>
          <p:cNvSpPr>
            <a:spLocks noGrp="1"/>
          </p:cNvSpPr>
          <p:nvPr>
            <p:ph type="pic" sz="half" idx="22"/>
          </p:nvPr>
        </p:nvSpPr>
        <p:spPr>
          <a:xfrm>
            <a:off x="12192000" y="-641351"/>
            <a:ext cx="12192000" cy="8128001"/>
          </a:xfrm>
          <a:prstGeom prst="rect">
            <a:avLst/>
          </a:prstGeom>
        </p:spPr>
        <p:txBody>
          <a:bodyPr lIns="91439" tIns="45719" rIns="91439" bIns="45719">
            <a:noAutofit/>
          </a:bodyPr>
          <a:lstStyle/>
          <a:p>
            <a:endParaRPr/>
          </a:p>
        </p:txBody>
      </p:sp>
      <p:sp>
        <p:nvSpPr>
          <p:cNvPr id="146" name="Northern Lights display over a snowy mountain landscape"/>
          <p:cNvSpPr>
            <a:spLocks noGrp="1"/>
          </p:cNvSpPr>
          <p:nvPr>
            <p:ph type="pic" idx="23"/>
          </p:nvPr>
        </p:nvSpPr>
        <p:spPr>
          <a:xfrm>
            <a:off x="-1" y="-2258501"/>
            <a:ext cx="12166601" cy="18233003"/>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Northern Lights display over a snowy landscape"/>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0000"/>
            </a:gs>
            <a:gs pos="100000">
              <a:srgbClr val="3B3B3B"/>
            </a:gs>
          </a:gsLst>
          <a:lin ang="5400000" scaled="0"/>
        </a:gra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70000" y="812800"/>
            <a:ext cx="21844000" cy="15574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Slide Title</a:t>
            </a:r>
          </a:p>
        </p:txBody>
      </p:sp>
      <p:sp>
        <p:nvSpPr>
          <p:cNvPr id="3" name="Body Level One…"/>
          <p:cNvSpPr txBox="1">
            <a:spLocks noGrp="1"/>
          </p:cNvSpPr>
          <p:nvPr>
            <p:ph type="body" idx="1" hasCustomPrompt="1"/>
          </p:nvPr>
        </p:nvSpPr>
        <p:spPr>
          <a:xfrm>
            <a:off x="1270000" y="4267200"/>
            <a:ext cx="21844000" cy="843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1977623" y="13081000"/>
            <a:ext cx="416053" cy="467107"/>
          </a:xfrm>
          <a:prstGeom prst="rect">
            <a:avLst/>
          </a:prstGeom>
          <a:ln w="12700">
            <a:miter lim="400000"/>
          </a:ln>
        </p:spPr>
        <p:txBody>
          <a:bodyPr wrap="none" lIns="50800" tIns="50800" rIns="50800" bIns="50800" anchor="b">
            <a:spAutoFit/>
          </a:bodyPr>
          <a:lstStyle>
            <a:lvl1pPr algn="ctr" defTabSz="825500">
              <a:spcBef>
                <a:spcPts val="0"/>
              </a:spcBef>
              <a:defRPr sz="22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1pPr>
      <a:lvl2pPr marL="0" marR="0" indent="457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2pPr>
      <a:lvl3pPr marL="0" marR="0" indent="914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3pPr>
      <a:lvl4pPr marL="0" marR="0" indent="1371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4pPr>
      <a:lvl5pPr marL="0" marR="0" indent="18288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5pPr>
      <a:lvl6pPr marL="0" marR="0" indent="22860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6pPr>
      <a:lvl7pPr marL="0" marR="0" indent="2743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7pPr>
      <a:lvl8pPr marL="0" marR="0" indent="3200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8pPr>
      <a:lvl9pPr marL="0" marR="0" indent="3657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000000"/>
              </a:gs>
            </a:gsLst>
            <a:lin ang="5400000" scaled="0"/>
          </a:gradFill>
          <a:uFillTx/>
          <a:latin typeface="+mn-lt"/>
          <a:ea typeface="+mn-ea"/>
          <a:cs typeface="+mn-cs"/>
          <a:sym typeface="Graphik Semibold"/>
        </a:defRPr>
      </a:lvl9pPr>
    </p:titleStyle>
    <p:bodyStyle>
      <a:lvl1pPr marL="558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p:bodyStyle>
    <p:otherStyle>
      <a:lvl1pPr marL="0" marR="0" indent="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1pPr>
      <a:lvl2pPr marL="0" marR="0" indent="457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2pPr>
      <a:lvl3pPr marL="0" marR="0" indent="914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3pPr>
      <a:lvl4pPr marL="0" marR="0" indent="1371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4pPr>
      <a:lvl5pPr marL="0" marR="0" indent="18288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5pPr>
      <a:lvl6pPr marL="0" marR="0" indent="22860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6pPr>
      <a:lvl7pPr marL="0" marR="0" indent="2743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7pPr>
      <a:lvl8pPr marL="0" marR="0" indent="3200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8pPr>
      <a:lvl9pPr marL="0" marR="0" indent="3657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html-sepia-omega.vercel.app"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rxiv.org/pdf/2111.11636" TargetMode="External"/><Relationship Id="rId2" Type="http://schemas.openxmlformats.org/officeDocument/2006/relationships/hyperlink" Target="https://github.com/crlandsc/Music-Genre-Classification-Using-Convolutional-Neural-Networks"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manichandra3/Music-Genre-Prediction-NLP_CS683-Group-Project-/blob/main/supervised1/FCN(Final).ipynb" TargetMode="External"/><Relationship Id="rId1" Type="http://schemas.openxmlformats.org/officeDocument/2006/relationships/slideLayout" Target="../slideLayouts/slideLayout1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manichandra3/Music-Genre-Prediction-NLP_CS683-Group-Project-/blob/main/supervised2/models.ipynb" TargetMode="External"/><Relationship Id="rId2" Type="http://schemas.openxmlformats.org/officeDocument/2006/relationships/hyperlink" Target="https://arxiv.org/pdf/2111.11636" TargetMode="External"/><Relationship Id="rId1" Type="http://schemas.openxmlformats.org/officeDocument/2006/relationships/slideLayout" Target="../slideLayouts/slideLayout9.xml"/><Relationship Id="rId5" Type="http://schemas.openxmlformats.org/officeDocument/2006/relationships/hyperlink" Target="https://github.com/manichandra3/Music-Genre-Prediction-NLP_CS683-Group-Project-/blob/main/supervised2/CRNN.ipynb" TargetMode="External"/><Relationship Id="rId4" Type="http://schemas.openxmlformats.org/officeDocument/2006/relationships/hyperlink" Target="https://github.com/manichandra3/Music-Genre-Prediction-NLP_CS683-Group-Project-/blob/main/supervised2/MusiCNN.ipynb"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manichandra3/Music-Genre-Prediction-NLP_CS683-Group-Project-/blob/main/supervised2/models.ipynb" TargetMode="External"/><Relationship Id="rId2" Type="http://schemas.openxmlformats.org/officeDocument/2006/relationships/hyperlink" Target="https://arxiv.org/pdf/2111.11636" TargetMode="External"/><Relationship Id="rId1" Type="http://schemas.openxmlformats.org/officeDocument/2006/relationships/slideLayout" Target="../slideLayouts/slideLayout14.xml"/><Relationship Id="rId4" Type="http://schemas.openxmlformats.org/officeDocument/2006/relationships/hyperlink" Target="https://github.com/manichandra3/Music-Genre-Prediction-NLP_CS683-Group-Project-/blob/main/semi-supervised/NST1.ipynb"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manichandra3/Music-Genre-Prediction-NLP_CS683-Group-Project-/blob/main/semi-supervised/KED.ipynb" TargetMode="Externa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rxiv.org/pdf/2412.15602" TargetMode="Externa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manichandra3/Music-Genre-Prediction-NLP_CS683-Group-Project-/blob/main/ensemble/Ensemble_learning_FIXED.ipynb" TargetMode="External"/><Relationship Id="rId1" Type="http://schemas.openxmlformats.org/officeDocument/2006/relationships/slideLayout" Target="../slideLayouts/slideLayout17.xml"/><Relationship Id="rId5" Type="http://schemas.openxmlformats.org/officeDocument/2006/relationships/hyperlink" Target="https://arxiv.org/pdf/2412.15602" TargetMode="Externa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manichandra3/Music-Genre-Prediction-NLP_CS683-Group-Project-/blob/main/ensemble/Ensemble_learning_FIXED.ipynb" TargetMode="External"/><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manichandra3/Music-Genre-Prediction-NLP_CS683-Group-Project-/blob/main/ensemble/Ensemble_learning_FIXED.ipynb" TargetMode="Externa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pdf/2111.11636" TargetMode="External"/><Relationship Id="rId7" Type="http://schemas.openxmlformats.org/officeDocument/2006/relationships/hyperlink" Target="https://jigneshbotla-music-genre-classification-app-i0kjjk.streamlit.app/" TargetMode="External"/><Relationship Id="rId2" Type="http://schemas.openxmlformats.org/officeDocument/2006/relationships/image" Target="../media/image10.png"/><Relationship Id="rId1" Type="http://schemas.openxmlformats.org/officeDocument/2006/relationships/slideLayout" Target="../slideLayouts/slideLayout11.xml"/><Relationship Id="rId6" Type="http://schemas.openxmlformats.org/officeDocument/2006/relationships/hyperlink" Target="https://github.com/JigneshBotla/Music-Genre-Classification/tree/main/models" TargetMode="External"/><Relationship Id="rId5" Type="http://schemas.openxmlformats.org/officeDocument/2006/relationships/hyperlink" Target="https://github.com/crlandsc/Music-Genre-Classification-Using-Convolutional-Neural-Networks/tree/main" TargetMode="External"/><Relationship Id="rId4" Type="http://schemas.openxmlformats.org/officeDocument/2006/relationships/hyperlink" Target="https://arxiv.org/pdf/2412.1560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Music Genre Classification"/>
          <p:cNvSpPr txBox="1">
            <a:spLocks noGrp="1"/>
          </p:cNvSpPr>
          <p:nvPr>
            <p:ph type="ctrTitle"/>
          </p:nvPr>
        </p:nvSpPr>
        <p:spPr>
          <a:xfrm>
            <a:off x="1270000" y="442468"/>
            <a:ext cx="21844000" cy="2148319"/>
          </a:xfrm>
          <a:prstGeom prst="rect">
            <a:avLst/>
          </a:prstGeom>
        </p:spPr>
        <p:txBody>
          <a:bodyPr/>
          <a:lstStyle/>
          <a:p>
            <a:r>
              <a:t>Music Genre Classification </a:t>
            </a:r>
          </a:p>
        </p:txBody>
      </p:sp>
      <p:sp>
        <p:nvSpPr>
          <p:cNvPr id="173" name="Dataset : GTZAN, which contains 10 genres, each with 100 songs of 30 seconds each."/>
          <p:cNvSpPr txBox="1"/>
          <p:nvPr/>
        </p:nvSpPr>
        <p:spPr>
          <a:xfrm>
            <a:off x="1101695" y="3921732"/>
            <a:ext cx="21844001" cy="25965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algn="ctr" defTabSz="825500">
              <a:spcBef>
                <a:spcPts val="0"/>
              </a:spcBef>
              <a:defRPr sz="6400">
                <a:solidFill>
                  <a:srgbClr val="D5D5D5"/>
                </a:solidFill>
                <a:latin typeface="Graphik Medium"/>
                <a:ea typeface="Graphik Medium"/>
                <a:cs typeface="Graphik Medium"/>
                <a:sym typeface="Graphik Medium"/>
              </a:defRPr>
            </a:lvl1pPr>
          </a:lstStyle>
          <a:p>
            <a:r>
              <a:rPr dirty="0"/>
              <a:t>Dataset : GTZAN, which contains 10 genres, each with 100 songs of 30 seconds each.</a:t>
            </a:r>
          </a:p>
        </p:txBody>
      </p:sp>
      <p:sp>
        <p:nvSpPr>
          <p:cNvPr id="174" name="Input : Spectrogram images scaled to a ‘mel-scale’(MFCC)"/>
          <p:cNvSpPr txBox="1">
            <a:spLocks noGrp="1"/>
          </p:cNvSpPr>
          <p:nvPr>
            <p:ph type="subTitle" sz="quarter" idx="1"/>
          </p:nvPr>
        </p:nvSpPr>
        <p:spPr>
          <a:xfrm>
            <a:off x="1101695" y="7090478"/>
            <a:ext cx="21844001" cy="2512353"/>
          </a:xfrm>
          <a:prstGeom prst="rect">
            <a:avLst/>
          </a:prstGeom>
        </p:spPr>
        <p:txBody>
          <a:bodyPr/>
          <a:lstStyle/>
          <a:p>
            <a:r>
              <a:rPr dirty="0"/>
              <a:t>Input : Spectrogram images scaled to a ‘mel-scale’(MFCC)</a:t>
            </a:r>
          </a:p>
        </p:txBody>
      </p:sp>
      <p:sp>
        <p:nvSpPr>
          <p:cNvPr id="175" name="Name : Botla Jignesh"/>
          <p:cNvSpPr txBox="1"/>
          <p:nvPr/>
        </p:nvSpPr>
        <p:spPr>
          <a:xfrm>
            <a:off x="1270000" y="9886550"/>
            <a:ext cx="21844000" cy="17760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algn="ctr" defTabSz="825500">
              <a:spcBef>
                <a:spcPts val="0"/>
              </a:spcBef>
              <a:defRPr sz="3500">
                <a:solidFill>
                  <a:srgbClr val="D5D5D5"/>
                </a:solidFill>
                <a:latin typeface="Graphik Medium"/>
                <a:ea typeface="Graphik Medium"/>
                <a:cs typeface="Graphik Medium"/>
                <a:sym typeface="Graphik Medium"/>
              </a:defRPr>
            </a:pPr>
            <a:r>
              <a:rPr lang="en-US" dirty="0"/>
              <a:t>Members :  </a:t>
            </a:r>
            <a:r>
              <a:rPr lang="en-US" u="sng" dirty="0">
                <a:hlinkClick r:id="rId2"/>
              </a:rPr>
              <a:t>Manichandra Ganapathri, Akshar </a:t>
            </a:r>
            <a:r>
              <a:rPr lang="en-US" u="sng" dirty="0" err="1">
                <a:hlinkClick r:id="rId2"/>
              </a:rPr>
              <a:t>Kondapuram</a:t>
            </a:r>
            <a:r>
              <a:rPr lang="en-US" u="sng" dirty="0">
                <a:hlinkClick r:id="rId2"/>
              </a:rPr>
              <a:t>, </a:t>
            </a:r>
            <a:r>
              <a:rPr lang="en-US" u="sng" dirty="0" err="1">
                <a:hlinkClick r:id="rId2"/>
              </a:rPr>
              <a:t>Botla</a:t>
            </a:r>
            <a:r>
              <a:rPr lang="en-US" u="sng" dirty="0">
                <a:hlinkClick r:id="rId2"/>
              </a:rPr>
              <a:t> Jignesh</a:t>
            </a:r>
            <a:endParaRPr u="sng" dirty="0">
              <a:hlinkClick r:id="rId2"/>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Genre classification using supervised learning"/>
          <p:cNvSpPr txBox="1">
            <a:spLocks noGrp="1"/>
          </p:cNvSpPr>
          <p:nvPr>
            <p:ph type="title"/>
          </p:nvPr>
        </p:nvSpPr>
        <p:spPr>
          <a:xfrm>
            <a:off x="692955" y="380031"/>
            <a:ext cx="22998090" cy="1517234"/>
          </a:xfrm>
          <a:prstGeom prst="rect">
            <a:avLst/>
          </a:prstGeom>
        </p:spPr>
        <p:txBody>
          <a:bodyPr/>
          <a:lstStyle/>
          <a:p>
            <a:pPr lvl="1" indent="329184" defTabSz="594360">
              <a:lnSpc>
                <a:spcPct val="90000"/>
              </a:lnSpc>
              <a:defRPr sz="8352" spc="-250">
                <a:gradFill flip="none" rotWithShape="1">
                  <a:gsLst>
                    <a:gs pos="0">
                      <a:srgbClr val="00FF00"/>
                    </a:gs>
                    <a:gs pos="100000">
                      <a:srgbClr val="007DFF"/>
                    </a:gs>
                  </a:gsLst>
                  <a:lin ang="3965999" scaled="0"/>
                </a:gradFill>
              </a:defRPr>
            </a:pPr>
            <a:r>
              <a:t>Genre classification using supervised learning</a:t>
            </a:r>
          </a:p>
        </p:txBody>
      </p:sp>
      <p:sp>
        <p:nvSpPr>
          <p:cNvPr id="178" name="Firstly, there are implemented supervised learning genre classification models (DNN, CNN) with different sub-categories of their implementations.…"/>
          <p:cNvSpPr txBox="1"/>
          <p:nvPr/>
        </p:nvSpPr>
        <p:spPr>
          <a:xfrm>
            <a:off x="1270000" y="2019128"/>
            <a:ext cx="21844000" cy="115223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58800" indent="-558800">
              <a:buClr>
                <a:srgbClr val="FFFFFF"/>
              </a:buClr>
              <a:buSzPct val="100000"/>
              <a:buChar char="•"/>
            </a:pPr>
            <a:r>
              <a:t>Firstly, there are implemented supervised learning genre classification models (</a:t>
            </a:r>
            <a:r>
              <a:rPr u="sng">
                <a:hlinkClick r:id="rId2"/>
              </a:rPr>
              <a:t>DNN, CNN</a:t>
            </a:r>
            <a:r>
              <a:t>) with different sub-categories of their implementations. </a:t>
            </a:r>
          </a:p>
          <a:p>
            <a:pPr marL="558800" indent="-558800">
              <a:buClr>
                <a:srgbClr val="FFFFFF"/>
              </a:buClr>
              <a:buSzPct val="100000"/>
              <a:buChar char="•"/>
            </a:pPr>
            <a:r>
              <a:t>This paper mentions more supervised learning models (</a:t>
            </a:r>
            <a:r>
              <a:rPr u="sng">
                <a:hlinkClick r:id="rId3"/>
              </a:rPr>
              <a:t>chapter-7)</a:t>
            </a:r>
            <a:r>
              <a:t> that can give better results than the existing implemented ones.</a:t>
            </a:r>
          </a:p>
          <a:p>
            <a:pPr marL="558800" indent="-558800">
              <a:buClr>
                <a:srgbClr val="FFFFFF"/>
              </a:buClr>
              <a:buSzPct val="100000"/>
              <a:buChar char="•"/>
              <a:defRPr b="1"/>
            </a:pPr>
            <a:r>
              <a:rPr u="sng"/>
              <a:t>Fully Convolutional Networks (FCN)</a:t>
            </a:r>
            <a:r>
              <a:t> :</a:t>
            </a:r>
          </a:p>
          <a:p>
            <a:pPr marL="558800" indent="-558800">
              <a:buClr>
                <a:srgbClr val="FFFFFF"/>
              </a:buClr>
              <a:buSzPct val="100000"/>
              <a:buChar char="•"/>
            </a:pPr>
            <a:r>
              <a:t>FCN is a deep learning strategy that consists of 4 convolution layers that helps in music tagging, in our case it is genre classification.</a:t>
            </a:r>
          </a:p>
          <a:p>
            <a:pPr marL="558800" indent="-558800">
              <a:buClr>
                <a:srgbClr val="FFFFFF"/>
              </a:buClr>
              <a:buSzPct val="100000"/>
              <a:buChar char="•"/>
            </a:pPr>
            <a:r>
              <a:t>Hyper-parameters like epochs and learning rate set to (250, 0.0001) for the fare comparison between existing implemented models.</a:t>
            </a:r>
          </a:p>
          <a:p>
            <a:pPr marL="558800" indent="-558800">
              <a:buClr>
                <a:srgbClr val="FFFFFF"/>
              </a:buClr>
              <a:buSzPct val="100000"/>
              <a:buChar char="•"/>
            </a:pPr>
            <a:r>
              <a:t>Based on data preparation methods, there are sub categories in FCN (without data slicing, with data slicing, with data augmentation)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FCN with data augmentation:…"/>
          <p:cNvSpPr txBox="1"/>
          <p:nvPr/>
        </p:nvSpPr>
        <p:spPr>
          <a:xfrm>
            <a:off x="1270000" y="174476"/>
            <a:ext cx="14534764" cy="1336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458215" indent="-458215" defTabSz="1999488">
              <a:spcBef>
                <a:spcPts val="1900"/>
              </a:spcBef>
              <a:buClr>
                <a:srgbClr val="FFFFFF"/>
              </a:buClr>
              <a:buSzPct val="100000"/>
              <a:buChar char="•"/>
              <a:defRPr sz="3936" b="1"/>
            </a:pPr>
            <a:r>
              <a:rPr u="sng" dirty="0"/>
              <a:t>FCN with data augmentation</a:t>
            </a:r>
            <a:r>
              <a:rPr dirty="0"/>
              <a:t>:</a:t>
            </a:r>
          </a:p>
          <a:p>
            <a:pPr marL="458215" indent="-458215" defTabSz="1999488">
              <a:spcBef>
                <a:spcPts val="1900"/>
              </a:spcBef>
              <a:buClr>
                <a:srgbClr val="FFFFFF"/>
              </a:buClr>
              <a:buSzPct val="100000"/>
              <a:buChar char="•"/>
              <a:defRPr sz="3936"/>
            </a:pPr>
            <a:r>
              <a:rPr dirty="0"/>
              <a:t>To expose the model to new data we use augmentation techniques, here </a:t>
            </a:r>
            <a:r>
              <a:rPr lang="en-US" dirty="0"/>
              <a:t>we</a:t>
            </a:r>
            <a:r>
              <a:rPr dirty="0"/>
              <a:t> have fed the reversed data(basically a reversed song) to the model to feed on new data.</a:t>
            </a:r>
          </a:p>
          <a:p>
            <a:pPr marL="458215" indent="-458215" defTabSz="1999488">
              <a:spcBef>
                <a:spcPts val="1900"/>
              </a:spcBef>
              <a:buClr>
                <a:srgbClr val="FFFFFF"/>
              </a:buClr>
              <a:buSzPct val="100000"/>
              <a:buChar char="•"/>
              <a:defRPr sz="3936"/>
            </a:pPr>
            <a:r>
              <a:rPr dirty="0"/>
              <a:t>The accuracy achieved here is </a:t>
            </a:r>
            <a:r>
              <a:rPr u="sng" dirty="0">
                <a:hlinkClick r:id="rId2"/>
              </a:rPr>
              <a:t>75 %</a:t>
            </a:r>
            <a:r>
              <a:rPr dirty="0"/>
              <a:t> which is more than few of the existing models.</a:t>
            </a:r>
          </a:p>
          <a:p>
            <a:pPr marL="458215" indent="-458215" defTabSz="1999488">
              <a:spcBef>
                <a:spcPts val="1900"/>
              </a:spcBef>
              <a:buClr>
                <a:srgbClr val="FFFFFF"/>
              </a:buClr>
              <a:buSzPct val="100000"/>
              <a:buChar char="•"/>
              <a:defRPr sz="3936" b="1"/>
            </a:pPr>
            <a:r>
              <a:rPr u="sng" dirty="0"/>
              <a:t>FCN with data slicing:</a:t>
            </a:r>
          </a:p>
          <a:p>
            <a:pPr marL="458215" indent="-458215" defTabSz="1999488">
              <a:spcBef>
                <a:spcPts val="1900"/>
              </a:spcBef>
              <a:buClr>
                <a:srgbClr val="FFFFFF"/>
              </a:buClr>
              <a:buSzPct val="100000"/>
              <a:buChar char="•"/>
              <a:defRPr sz="3936"/>
            </a:pPr>
            <a:r>
              <a:rPr dirty="0"/>
              <a:t>As deep learning models require large data to be trained on we try to divide the each song in the dataset into 10 slices of 3 second each.</a:t>
            </a:r>
          </a:p>
          <a:p>
            <a:pPr marL="458215" indent="-458215" defTabSz="1999488">
              <a:spcBef>
                <a:spcPts val="1900"/>
              </a:spcBef>
              <a:buClr>
                <a:srgbClr val="FFFFFF"/>
              </a:buClr>
              <a:buSzPct val="100000"/>
              <a:buChar char="•"/>
              <a:defRPr sz="3936"/>
            </a:pPr>
            <a:r>
              <a:rPr dirty="0"/>
              <a:t>The accuracy achieved here is </a:t>
            </a:r>
            <a:r>
              <a:rPr u="sng" dirty="0">
                <a:hlinkClick r:id="rId2"/>
              </a:rPr>
              <a:t>75 %</a:t>
            </a:r>
            <a:r>
              <a:rPr dirty="0"/>
              <a:t> which is more than few of the existing models.</a:t>
            </a:r>
          </a:p>
          <a:p>
            <a:pPr marL="458215" indent="-458215" defTabSz="1999488">
              <a:spcBef>
                <a:spcPts val="1900"/>
              </a:spcBef>
              <a:buClr>
                <a:srgbClr val="FFFFFF"/>
              </a:buClr>
              <a:buSzPct val="100000"/>
              <a:buChar char="•"/>
              <a:defRPr sz="3936" b="1"/>
            </a:pPr>
            <a:r>
              <a:rPr u="sng" dirty="0"/>
              <a:t>FCN without data slicing</a:t>
            </a:r>
            <a:r>
              <a:rPr dirty="0"/>
              <a:t>:</a:t>
            </a:r>
          </a:p>
          <a:p>
            <a:pPr marL="458215" indent="-458215" defTabSz="1999488">
              <a:spcBef>
                <a:spcPts val="1900"/>
              </a:spcBef>
              <a:buClr>
                <a:srgbClr val="FFFFFF"/>
              </a:buClr>
              <a:buSzPct val="100000"/>
              <a:buChar char="•"/>
              <a:defRPr sz="3936"/>
            </a:pPr>
            <a:r>
              <a:rPr dirty="0"/>
              <a:t>Dataset contains song of each 30 seconds is directly fed into the model by converting them into spectrograms.</a:t>
            </a:r>
          </a:p>
          <a:p>
            <a:pPr marL="458215" indent="-458215" defTabSz="1999488">
              <a:spcBef>
                <a:spcPts val="1900"/>
              </a:spcBef>
              <a:buClr>
                <a:srgbClr val="FFFFFF"/>
              </a:buClr>
              <a:buSzPct val="100000"/>
              <a:buChar char="•"/>
              <a:defRPr sz="3936"/>
            </a:pPr>
            <a:r>
              <a:rPr dirty="0"/>
              <a:t>The accuracy achieved here is </a:t>
            </a:r>
            <a:r>
              <a:rPr u="sng" dirty="0">
                <a:hlinkClick r:id="rId2"/>
              </a:rPr>
              <a:t>92.12 %</a:t>
            </a:r>
            <a:r>
              <a:rPr dirty="0"/>
              <a:t> which is more than all the existing models.</a:t>
            </a:r>
          </a:p>
        </p:txBody>
      </p:sp>
      <p:pic>
        <p:nvPicPr>
          <p:cNvPr id="181" name="pasted-movie.png" descr="pasted-movie.png"/>
          <p:cNvPicPr>
            <a:picLocks noChangeAspect="1"/>
          </p:cNvPicPr>
          <p:nvPr/>
        </p:nvPicPr>
        <p:blipFill>
          <a:blip r:embed="rId3"/>
          <a:srcRect/>
          <a:stretch>
            <a:fillRect/>
          </a:stretch>
        </p:blipFill>
        <p:spPr>
          <a:xfrm>
            <a:off x="15817752" y="9452690"/>
            <a:ext cx="7900450" cy="4342939"/>
          </a:xfrm>
          <a:prstGeom prst="rect">
            <a:avLst/>
          </a:prstGeom>
          <a:ln w="12700">
            <a:miter lim="400000"/>
          </a:ln>
        </p:spPr>
      </p:pic>
      <p:pic>
        <p:nvPicPr>
          <p:cNvPr id="182" name="pasted-movie.png" descr="pasted-movie.png"/>
          <p:cNvPicPr>
            <a:picLocks noChangeAspect="1"/>
          </p:cNvPicPr>
          <p:nvPr/>
        </p:nvPicPr>
        <p:blipFill>
          <a:blip r:embed="rId4"/>
          <a:stretch>
            <a:fillRect/>
          </a:stretch>
        </p:blipFill>
        <p:spPr>
          <a:xfrm>
            <a:off x="15839506" y="167009"/>
            <a:ext cx="6526178" cy="4972327"/>
          </a:xfrm>
          <a:prstGeom prst="rect">
            <a:avLst/>
          </a:prstGeom>
          <a:ln w="12700">
            <a:miter lim="400000"/>
          </a:ln>
        </p:spPr>
      </p:pic>
      <p:pic>
        <p:nvPicPr>
          <p:cNvPr id="183" name="pasted-movie.png" descr="pasted-movie.png"/>
          <p:cNvPicPr>
            <a:picLocks noChangeAspect="1"/>
          </p:cNvPicPr>
          <p:nvPr/>
        </p:nvPicPr>
        <p:blipFill>
          <a:blip r:embed="rId5"/>
          <a:stretch>
            <a:fillRect/>
          </a:stretch>
        </p:blipFill>
        <p:spPr>
          <a:xfrm>
            <a:off x="15828781" y="5222997"/>
            <a:ext cx="5441627" cy="4146002"/>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ort chunk CNN:…"/>
          <p:cNvSpPr txBox="1"/>
          <p:nvPr/>
        </p:nvSpPr>
        <p:spPr>
          <a:xfrm>
            <a:off x="1270000" y="174476"/>
            <a:ext cx="21844000" cy="1336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497331" indent="-497331" defTabSz="2170176">
              <a:spcBef>
                <a:spcPts val="2100"/>
              </a:spcBef>
              <a:buClr>
                <a:srgbClr val="FFFFFF"/>
              </a:buClr>
              <a:buSzPct val="100000"/>
              <a:buChar char="•"/>
              <a:defRPr sz="4272" b="1"/>
            </a:pPr>
            <a:r>
              <a:rPr u="sng" dirty="0"/>
              <a:t>Short chunk CNN</a:t>
            </a:r>
            <a:r>
              <a:rPr dirty="0"/>
              <a:t>:</a:t>
            </a:r>
          </a:p>
          <a:p>
            <a:pPr marL="497331" indent="-497331" defTabSz="2170176">
              <a:spcBef>
                <a:spcPts val="2100"/>
              </a:spcBef>
              <a:buClr>
                <a:srgbClr val="FFFFFF"/>
              </a:buClr>
              <a:buSzPct val="100000"/>
              <a:buChar char="•"/>
              <a:defRPr sz="4272"/>
            </a:pPr>
            <a:r>
              <a:rPr dirty="0"/>
              <a:t>According to the definition mentioned in the </a:t>
            </a:r>
            <a:r>
              <a:rPr u="sng" dirty="0">
                <a:hlinkClick r:id="rId2"/>
              </a:rPr>
              <a:t>paper</a:t>
            </a:r>
            <a:r>
              <a:rPr dirty="0"/>
              <a:t> </a:t>
            </a:r>
            <a:r>
              <a:rPr dirty="0" err="1"/>
              <a:t>i</a:t>
            </a:r>
            <a:r>
              <a:rPr dirty="0"/>
              <a:t> have introduced 7 convolution layers, with dense </a:t>
            </a:r>
            <a:r>
              <a:rPr dirty="0" err="1"/>
              <a:t>maxpooling</a:t>
            </a:r>
            <a:r>
              <a:rPr dirty="0"/>
              <a:t> (2,2).</a:t>
            </a:r>
          </a:p>
          <a:p>
            <a:pPr marL="497331" indent="-497331" defTabSz="2170176">
              <a:spcBef>
                <a:spcPts val="2100"/>
              </a:spcBef>
              <a:buClr>
                <a:srgbClr val="FFFFFF"/>
              </a:buClr>
              <a:buSzPct val="100000"/>
              <a:buChar char="•"/>
              <a:defRPr sz="4272"/>
            </a:pPr>
            <a:r>
              <a:rPr dirty="0"/>
              <a:t>Now we divide data into 3.69 second chunks each and train the model on it.</a:t>
            </a:r>
          </a:p>
          <a:p>
            <a:pPr marL="497331" indent="-497331" defTabSz="2170176">
              <a:spcBef>
                <a:spcPts val="2100"/>
              </a:spcBef>
              <a:buClr>
                <a:srgbClr val="FFFFFF"/>
              </a:buClr>
              <a:buSzPct val="100000"/>
              <a:buChar char="•"/>
              <a:defRPr sz="4272"/>
            </a:pPr>
            <a:r>
              <a:rPr dirty="0"/>
              <a:t>The accuracy achieved here is </a:t>
            </a:r>
            <a:r>
              <a:rPr u="sng" dirty="0">
                <a:hlinkClick r:id="rId3"/>
              </a:rPr>
              <a:t>81.40 %</a:t>
            </a:r>
            <a:r>
              <a:rPr dirty="0"/>
              <a:t> which is more than most of the existing models.</a:t>
            </a:r>
          </a:p>
          <a:p>
            <a:pPr marL="497331" indent="-497331" defTabSz="2170176">
              <a:spcBef>
                <a:spcPts val="2100"/>
              </a:spcBef>
              <a:buClr>
                <a:srgbClr val="FFFFFF"/>
              </a:buClr>
              <a:buSzPct val="100000"/>
              <a:buChar char="•"/>
              <a:defRPr sz="4272" b="1"/>
            </a:pPr>
            <a:r>
              <a:rPr u="sng" dirty="0" err="1"/>
              <a:t>MusiCNN</a:t>
            </a:r>
            <a:r>
              <a:rPr dirty="0"/>
              <a:t>:</a:t>
            </a:r>
          </a:p>
          <a:p>
            <a:pPr marL="497331" indent="-497331" defTabSz="2170176">
              <a:spcBef>
                <a:spcPts val="2100"/>
              </a:spcBef>
              <a:buClr>
                <a:srgbClr val="FFFFFF"/>
              </a:buClr>
              <a:buSzPct val="100000"/>
              <a:buChar char="•"/>
              <a:defRPr sz="4272"/>
            </a:pPr>
            <a:r>
              <a:rPr dirty="0"/>
              <a:t>Till now we have used kernel/filter dimension as (2,2) or (3,3) but in this model we tune with different values manually and measure the model’s performance.</a:t>
            </a:r>
          </a:p>
          <a:p>
            <a:pPr marL="497331" indent="-497331" defTabSz="2170176">
              <a:spcBef>
                <a:spcPts val="2100"/>
              </a:spcBef>
              <a:buClr>
                <a:srgbClr val="FFFFFF"/>
              </a:buClr>
              <a:buSzPct val="100000"/>
              <a:buChar char="•"/>
              <a:defRPr sz="4272"/>
            </a:pPr>
            <a:r>
              <a:rPr dirty="0"/>
              <a:t>The accuracy achieved here is </a:t>
            </a:r>
            <a:r>
              <a:rPr u="sng" dirty="0">
                <a:hlinkClick r:id="rId4"/>
              </a:rPr>
              <a:t>83 %</a:t>
            </a:r>
            <a:r>
              <a:rPr dirty="0"/>
              <a:t> which is more than few of the existing models.</a:t>
            </a:r>
          </a:p>
          <a:p>
            <a:pPr marL="497331" indent="-497331" defTabSz="2170176">
              <a:spcBef>
                <a:spcPts val="2100"/>
              </a:spcBef>
              <a:buClr>
                <a:srgbClr val="FFFFFF"/>
              </a:buClr>
              <a:buSzPct val="100000"/>
              <a:buChar char="•"/>
              <a:defRPr sz="4272" b="1" u="sng"/>
            </a:pPr>
            <a:r>
              <a:rPr dirty="0"/>
              <a:t>Convolutional Recurrent Neural Network(CRNN):</a:t>
            </a:r>
          </a:p>
          <a:p>
            <a:pPr marL="497331" indent="-497331" defTabSz="2170176">
              <a:spcBef>
                <a:spcPts val="2100"/>
              </a:spcBef>
              <a:buClr>
                <a:srgbClr val="FFFFFF"/>
              </a:buClr>
              <a:buSzPct val="100000"/>
              <a:buChar char="•"/>
              <a:defRPr sz="4272"/>
            </a:pPr>
            <a:r>
              <a:rPr dirty="0"/>
              <a:t>Combined both convolution layers, LSTM for spatial feature extraction(MFCC) and temporal dependencies(combination of CNN and RNN).</a:t>
            </a:r>
          </a:p>
          <a:p>
            <a:pPr marL="497331" indent="-497331" defTabSz="2170176">
              <a:spcBef>
                <a:spcPts val="2100"/>
              </a:spcBef>
              <a:buClr>
                <a:srgbClr val="FFFFFF"/>
              </a:buClr>
              <a:buSzPct val="100000"/>
              <a:buChar char="•"/>
              <a:defRPr sz="4272"/>
            </a:pPr>
            <a:r>
              <a:rPr dirty="0"/>
              <a:t>The accuracy achieved here is </a:t>
            </a:r>
            <a:r>
              <a:rPr u="sng" dirty="0">
                <a:hlinkClick r:id="rId5"/>
              </a:rPr>
              <a:t>83 %</a:t>
            </a:r>
            <a:r>
              <a:rPr dirty="0"/>
              <a:t> for 400 epochs and with learning rate of 0.0001 which is more than few of the existing models.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Genre classification using Semi-supervised learning"/>
          <p:cNvSpPr txBox="1">
            <a:spLocks noGrp="1"/>
          </p:cNvSpPr>
          <p:nvPr>
            <p:ph type="body" sz="quarter" idx="1"/>
          </p:nvPr>
        </p:nvSpPr>
        <p:spPr>
          <a:xfrm>
            <a:off x="1270000" y="115139"/>
            <a:ext cx="21844000" cy="1773455"/>
          </a:xfrm>
          <a:prstGeom prst="rect">
            <a:avLst/>
          </a:prstGeom>
        </p:spPr>
        <p:txBody>
          <a:bodyPr/>
          <a:lstStyle>
            <a:lvl1pPr defTabSz="2048255">
              <a:defRPr sz="7056" spc="-141"/>
            </a:lvl1pPr>
          </a:lstStyle>
          <a:p>
            <a:r>
              <a:t>Genre classification using Semi-supervised learning </a:t>
            </a:r>
          </a:p>
        </p:txBody>
      </p:sp>
      <p:sp>
        <p:nvSpPr>
          <p:cNvPr id="188" name="Since it is semi-supervised learning we generate pseudo-unlabeled data by augmentation process.…"/>
          <p:cNvSpPr txBox="1"/>
          <p:nvPr/>
        </p:nvSpPr>
        <p:spPr>
          <a:xfrm>
            <a:off x="1270000" y="1833480"/>
            <a:ext cx="21844000" cy="11708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19684" indent="-519684" defTabSz="2267711">
              <a:spcBef>
                <a:spcPts val="2200"/>
              </a:spcBef>
              <a:buClr>
                <a:srgbClr val="FFFFFF"/>
              </a:buClr>
              <a:buSzPct val="100000"/>
              <a:buChar char="•"/>
              <a:defRPr sz="4464"/>
            </a:pPr>
            <a:r>
              <a:rPr dirty="0"/>
              <a:t>Since it is semi-supervised learning we generate pseudo-unlabeled data by augmentation process.</a:t>
            </a:r>
          </a:p>
          <a:p>
            <a:pPr marL="519684" indent="-519684" defTabSz="2267711">
              <a:spcBef>
                <a:spcPts val="2200"/>
              </a:spcBef>
              <a:buClr>
                <a:srgbClr val="FFFFFF"/>
              </a:buClr>
              <a:buSzPct val="100000"/>
              <a:buChar char="•"/>
              <a:defRPr sz="4464"/>
            </a:pPr>
            <a:r>
              <a:rPr dirty="0"/>
              <a:t>There are 2 models that were mentioned in the </a:t>
            </a:r>
            <a:r>
              <a:rPr u="sng" dirty="0">
                <a:hlinkClick r:id="rId2"/>
              </a:rPr>
              <a:t>chapter-12</a:t>
            </a:r>
            <a:r>
              <a:rPr dirty="0"/>
              <a:t>, they are ‘Noisy student training’ and ‘knowledge expansion and distillation’.</a:t>
            </a:r>
          </a:p>
          <a:p>
            <a:pPr marL="519684" indent="-519684" defTabSz="2267711">
              <a:spcBef>
                <a:spcPts val="2200"/>
              </a:spcBef>
              <a:buClr>
                <a:srgbClr val="FFFFFF"/>
              </a:buClr>
              <a:buSzPct val="100000"/>
              <a:buChar char="•"/>
              <a:defRPr sz="4464" b="1" u="sng"/>
            </a:pPr>
            <a:r>
              <a:rPr dirty="0"/>
              <a:t>Noisy student training(NST):</a:t>
            </a:r>
          </a:p>
          <a:p>
            <a:pPr marL="519684" indent="-519684" defTabSz="2267711">
              <a:spcBef>
                <a:spcPts val="2200"/>
              </a:spcBef>
              <a:buClr>
                <a:srgbClr val="FFFFFF"/>
              </a:buClr>
              <a:buSzPct val="100000"/>
              <a:buChar char="•"/>
              <a:defRPr sz="4464"/>
            </a:pPr>
            <a:r>
              <a:rPr dirty="0"/>
              <a:t>Here there will be 2 models “Teacher model” that trains on pseudo-unlabeled data and predicts the labels.</a:t>
            </a:r>
          </a:p>
          <a:p>
            <a:pPr marL="519684" indent="-519684" defTabSz="2267711">
              <a:spcBef>
                <a:spcPts val="2200"/>
              </a:spcBef>
              <a:buClr>
                <a:srgbClr val="FFFFFF"/>
              </a:buClr>
              <a:buSzPct val="100000"/>
              <a:buChar char="•"/>
              <a:defRPr sz="4464"/>
            </a:pPr>
            <a:r>
              <a:rPr dirty="0"/>
              <a:t>I’ve used </a:t>
            </a:r>
            <a:r>
              <a:rPr u="sng" dirty="0">
                <a:hlinkClick r:id="rId3"/>
              </a:rPr>
              <a:t>CRNN</a:t>
            </a:r>
            <a:r>
              <a:rPr dirty="0"/>
              <a:t> as the “Teacher model,” which has performed decently, allowing it to predict the labels. </a:t>
            </a:r>
          </a:p>
          <a:p>
            <a:pPr marL="519684" indent="-519684" defTabSz="2267711">
              <a:spcBef>
                <a:spcPts val="2200"/>
              </a:spcBef>
              <a:buClr>
                <a:srgbClr val="FFFFFF"/>
              </a:buClr>
              <a:buSzPct val="100000"/>
              <a:buChar char="•"/>
              <a:defRPr sz="4464"/>
            </a:pPr>
            <a:r>
              <a:rPr dirty="0"/>
              <a:t>After the label predictions of “Teacher model” we then do training on the labeled data using “Student model”.</a:t>
            </a:r>
          </a:p>
          <a:p>
            <a:pPr marL="519684" indent="-519684" defTabSz="2267711">
              <a:spcBef>
                <a:spcPts val="2200"/>
              </a:spcBef>
              <a:buClr>
                <a:srgbClr val="FFFFFF"/>
              </a:buClr>
              <a:buSzPct val="100000"/>
              <a:buChar char="•"/>
              <a:defRPr sz="4464"/>
            </a:pPr>
            <a:r>
              <a:rPr dirty="0"/>
              <a:t>This brought down an accuracy of “</a:t>
            </a:r>
            <a:r>
              <a:rPr u="sng" dirty="0">
                <a:hlinkClick r:id="rId4"/>
              </a:rPr>
              <a:t>83.38 %</a:t>
            </a:r>
            <a:r>
              <a:rPr dirty="0"/>
              <a:t>” for 250 epochs and with a learning rate of 0.0001 for the student model.</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Knowledge expansion and distillation(KED):…"/>
          <p:cNvSpPr txBox="1"/>
          <p:nvPr/>
        </p:nvSpPr>
        <p:spPr>
          <a:xfrm>
            <a:off x="1270000" y="282672"/>
            <a:ext cx="21844000" cy="76326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58800" indent="-558800">
              <a:buClr>
                <a:srgbClr val="FFFFFF"/>
              </a:buClr>
              <a:buSzPct val="100000"/>
              <a:buChar char="•"/>
              <a:defRPr b="1" u="sng"/>
            </a:pPr>
            <a:r>
              <a:rPr dirty="0"/>
              <a:t>Knowledge expansion and distillation(KED):</a:t>
            </a:r>
          </a:p>
          <a:p>
            <a:pPr marL="558800" indent="-558800">
              <a:buClr>
                <a:srgbClr val="FFFFFF"/>
              </a:buClr>
              <a:buSzPct val="100000"/>
              <a:buChar char="•"/>
            </a:pPr>
            <a:r>
              <a:rPr dirty="0"/>
              <a:t>As a continuation to the previous model we will try to expose the student model to large data(Knowledge expansion) so that it can learn more than teacher model and in more difficult environment(more noise).</a:t>
            </a:r>
          </a:p>
          <a:p>
            <a:pPr marL="558800" indent="-558800">
              <a:buClr>
                <a:srgbClr val="FFFFFF"/>
              </a:buClr>
              <a:buSzPct val="100000"/>
              <a:buChar char="•"/>
            </a:pPr>
            <a:r>
              <a:rPr dirty="0"/>
              <a:t>Achieved an accuracy of </a:t>
            </a:r>
            <a:r>
              <a:rPr u="sng" dirty="0">
                <a:hlinkClick r:id="rId2"/>
              </a:rPr>
              <a:t>81.64 %</a:t>
            </a:r>
            <a:r>
              <a:rPr dirty="0"/>
              <a:t> for 250 epochs and with a learning rate of 0.0001.</a:t>
            </a:r>
          </a:p>
        </p:txBody>
      </p:sp>
      <p:pic>
        <p:nvPicPr>
          <p:cNvPr id="191" name="PNG image.png" descr="PNG image.png"/>
          <p:cNvPicPr>
            <a:picLocks noChangeAspect="1"/>
          </p:cNvPicPr>
          <p:nvPr/>
        </p:nvPicPr>
        <p:blipFill>
          <a:blip r:embed="rId3"/>
          <a:stretch>
            <a:fillRect/>
          </a:stretch>
        </p:blipFill>
        <p:spPr>
          <a:xfrm>
            <a:off x="1852984" y="6257570"/>
            <a:ext cx="11922335" cy="6623520"/>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Genre classification using Ensemble learning"/>
          <p:cNvSpPr txBox="1">
            <a:spLocks noGrp="1"/>
          </p:cNvSpPr>
          <p:nvPr>
            <p:ph type="body" sz="quarter" idx="1"/>
          </p:nvPr>
        </p:nvSpPr>
        <p:spPr>
          <a:xfrm>
            <a:off x="1270000" y="115139"/>
            <a:ext cx="21844000" cy="1773455"/>
          </a:xfrm>
          <a:prstGeom prst="rect">
            <a:avLst/>
          </a:prstGeom>
        </p:spPr>
        <p:txBody>
          <a:bodyPr/>
          <a:lstStyle>
            <a:lvl1pPr defTabSz="2389632">
              <a:defRPr sz="8232" spc="-164">
                <a:gradFill flip="none" rotWithShape="1">
                  <a:gsLst>
                    <a:gs pos="0">
                      <a:srgbClr val="DA5100"/>
                    </a:gs>
                    <a:gs pos="100000">
                      <a:srgbClr val="52D6FC"/>
                    </a:gs>
                  </a:gsLst>
                  <a:lin ang="2700000" scaled="0"/>
                </a:gradFill>
              </a:defRPr>
            </a:lvl1pPr>
          </a:lstStyle>
          <a:p>
            <a:r>
              <a:t>Genre classification using Ensemble learning </a:t>
            </a:r>
          </a:p>
        </p:txBody>
      </p:sp>
      <p:sp>
        <p:nvSpPr>
          <p:cNvPr id="194" name="According to the paper for the Music information retrieval(MIR) first we need to do music feature classification.…"/>
          <p:cNvSpPr txBox="1"/>
          <p:nvPr/>
        </p:nvSpPr>
        <p:spPr>
          <a:xfrm>
            <a:off x="1270000" y="1833480"/>
            <a:ext cx="22889895" cy="56731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58800" indent="-558800">
              <a:buClr>
                <a:srgbClr val="FFFFFF"/>
              </a:buClr>
              <a:buSzPct val="100000"/>
              <a:buChar char="•"/>
            </a:pPr>
            <a:r>
              <a:rPr dirty="0"/>
              <a:t>According to the </a:t>
            </a:r>
            <a:r>
              <a:rPr u="sng" dirty="0">
                <a:hlinkClick r:id="rId2"/>
              </a:rPr>
              <a:t>paper</a:t>
            </a:r>
            <a:r>
              <a:rPr dirty="0"/>
              <a:t> for the Music information retrieval(MIR) first we need to do music feature classification.</a:t>
            </a:r>
          </a:p>
          <a:p>
            <a:pPr marL="558800" indent="-558800">
              <a:buClr>
                <a:srgbClr val="FFFFFF"/>
              </a:buClr>
              <a:buSzPct val="100000"/>
              <a:buChar char="•"/>
            </a:pPr>
            <a:r>
              <a:rPr dirty="0"/>
              <a:t>In this case of Music genre classification, we find ‘vocal’ and ‘accompaniment’ features in each song.</a:t>
            </a:r>
          </a:p>
          <a:p>
            <a:pPr marL="558800" indent="-558800">
              <a:buClr>
                <a:srgbClr val="FFFFFF"/>
              </a:buClr>
              <a:buSzPct val="100000"/>
              <a:buChar char="•"/>
            </a:pPr>
            <a:r>
              <a:rPr dirty="0"/>
              <a:t>LSTM model is used for vocal extraction and CNN is used for accompaniment.</a:t>
            </a:r>
          </a:p>
        </p:txBody>
      </p:sp>
      <p:pic>
        <p:nvPicPr>
          <p:cNvPr id="195" name="PNG image.png" descr="PNG image.png"/>
          <p:cNvPicPr>
            <a:picLocks noChangeAspect="1"/>
          </p:cNvPicPr>
          <p:nvPr/>
        </p:nvPicPr>
        <p:blipFill>
          <a:blip r:embed="rId3"/>
          <a:stretch>
            <a:fillRect/>
          </a:stretch>
        </p:blipFill>
        <p:spPr>
          <a:xfrm>
            <a:off x="13487654" y="7044328"/>
            <a:ext cx="10584335" cy="5880187"/>
          </a:xfrm>
          <a:prstGeom prst="rect">
            <a:avLst/>
          </a:prstGeom>
          <a:ln w="12700">
            <a:miter lim="400000"/>
          </a:ln>
        </p:spPr>
      </p:pic>
      <p:sp>
        <p:nvSpPr>
          <p:cNvPr id="196" name="LSTM model for vocal extraction:…"/>
          <p:cNvSpPr txBox="1"/>
          <p:nvPr/>
        </p:nvSpPr>
        <p:spPr>
          <a:xfrm>
            <a:off x="1270000" y="6906668"/>
            <a:ext cx="12515106" cy="6514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58800" indent="-558800">
              <a:buClr>
                <a:srgbClr val="FFFFFF"/>
              </a:buClr>
              <a:buSzPct val="100000"/>
              <a:buChar char="•"/>
              <a:defRPr b="1" u="sng"/>
            </a:pPr>
            <a:r>
              <a:t>LSTM model for vocal extraction:</a:t>
            </a:r>
          </a:p>
          <a:p>
            <a:pPr marL="558800" indent="-558800">
              <a:buClr>
                <a:srgbClr val="FFFFFF"/>
              </a:buClr>
              <a:buSzPct val="100000"/>
              <a:buChar char="•"/>
            </a:pPr>
            <a:r>
              <a:t>I have introduced 2 Bidirectional LSTM layers and 4 dense layers(including output layer).</a:t>
            </a:r>
          </a:p>
          <a:p>
            <a:pPr marL="558800" indent="-558800">
              <a:buClr>
                <a:srgbClr val="FFFFFF"/>
              </a:buClr>
              <a:buSzPct val="100000"/>
              <a:buChar char="•"/>
            </a:pPr>
            <a:r>
              <a:t>Also incremented the number of epochs to 250 and removed the Earlystopping, so that model gets trained for all epochs.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From the following confusion matrix we can get the accuracy as “72.76 %”."/>
          <p:cNvSpPr txBox="1"/>
          <p:nvPr/>
        </p:nvSpPr>
        <p:spPr>
          <a:xfrm>
            <a:off x="548693" y="607259"/>
            <a:ext cx="10844080" cy="42064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58800" indent="-558800">
              <a:buClr>
                <a:srgbClr val="FFFFFF"/>
              </a:buClr>
              <a:buSzPct val="100000"/>
              <a:buChar char="•"/>
            </a:pPr>
            <a:r>
              <a:rPr dirty="0"/>
              <a:t>From the following confusion matrix we can get the accuracy as “</a:t>
            </a:r>
            <a:r>
              <a:rPr u="sng" dirty="0">
                <a:hlinkClick r:id="rId2"/>
              </a:rPr>
              <a:t>72.76 %</a:t>
            </a:r>
            <a:r>
              <a:rPr dirty="0"/>
              <a:t>”.</a:t>
            </a:r>
          </a:p>
        </p:txBody>
      </p:sp>
      <p:pic>
        <p:nvPicPr>
          <p:cNvPr id="199" name="PNG image.png" descr="PNG image.png"/>
          <p:cNvPicPr>
            <a:picLocks noChangeAspect="1"/>
          </p:cNvPicPr>
          <p:nvPr/>
        </p:nvPicPr>
        <p:blipFill>
          <a:blip r:embed="rId3"/>
          <a:stretch>
            <a:fillRect/>
          </a:stretch>
        </p:blipFill>
        <p:spPr>
          <a:xfrm>
            <a:off x="11418351" y="705990"/>
            <a:ext cx="12940091" cy="11511425"/>
          </a:xfrm>
          <a:prstGeom prst="rect">
            <a:avLst/>
          </a:prstGeom>
          <a:ln w="12700">
            <a:miter lim="400000"/>
          </a:ln>
        </p:spPr>
      </p:pic>
      <mc:AlternateContent xmlns:mc="http://schemas.openxmlformats.org/markup-compatibility/2006">
        <mc:Choice xmlns:a14="http://schemas.microsoft.com/office/drawing/2010/main" Requires="a14">
          <p:sp>
            <p:nvSpPr>
              <p:cNvPr id="200" name="Equation"/>
              <p:cNvSpPr txBox="1"/>
              <p:nvPr/>
            </p:nvSpPr>
            <p:spPr>
              <a:xfrm>
                <a:off x="1150516" y="3302660"/>
                <a:ext cx="10099503" cy="1253948"/>
              </a:xfrm>
              <a:prstGeom prst="rect">
                <a:avLst/>
              </a:prstGeom>
              <a:ln w="12700">
                <a:miter lim="400000"/>
              </a:ln>
            </p:spPr>
            <p:txBody>
              <a:bodyPr wrap="none" lIns="0" tIns="0" rIns="0" bIns="0">
                <a:spAutoFit/>
              </a:bodyPr>
              <a:lstStyle/>
              <a:p>
                <a:pPr defTabSz="914400" latinLnBrk="1">
                  <a:spcBef>
                    <a:spcPts val="0"/>
                  </a:spcBef>
                  <a:defRPr sz="1800">
                    <a:solidFill>
                      <a:srgbClr val="000000"/>
                    </a:solidFill>
                  </a:defRPr>
                </a:pPr>
                <a14:m>
                  <m:oMathPara xmlns:m="http://schemas.openxmlformats.org/officeDocument/2006/math">
                    <m:oMathParaPr>
                      <m:jc m:val="centerGroup"/>
                    </m:oMathParaPr>
                    <m:oMath xmlns:m="http://schemas.openxmlformats.org/officeDocument/2006/math">
                      <m:r>
                        <m:rPr>
                          <m:nor/>
                        </m:rPr>
                        <a:rPr sz="4400" i="1">
                          <a:solidFill>
                            <a:srgbClr val="FEFFFE"/>
                          </a:solidFill>
                          <a:latin typeface="Cambria Math" panose="02040503050406030204" pitchFamily="18" charset="0"/>
                        </a:rPr>
                        <m:t>Accuracy</m:t>
                      </m:r>
                      <m:r>
                        <a:rPr sz="4400" i="1">
                          <a:solidFill>
                            <a:srgbClr val="FEFFFE"/>
                          </a:solidFill>
                          <a:latin typeface="Cambria Math" panose="02040503050406030204" pitchFamily="18" charset="0"/>
                        </a:rPr>
                        <m:t>=</m:t>
                      </m:r>
                      <m:f>
                        <m:fPr>
                          <m:ctrlPr>
                            <a:rPr sz="4400" i="1">
                              <a:solidFill>
                                <a:srgbClr val="FEFFFE"/>
                              </a:solidFill>
                              <a:latin typeface="Cambria Math" panose="02040503050406030204" pitchFamily="18" charset="0"/>
                            </a:rPr>
                          </m:ctrlPr>
                        </m:fPr>
                        <m:num>
                          <m:r>
                            <m:rPr>
                              <m:nor/>
                            </m:rPr>
                            <a:rPr sz="4400" i="1">
                              <a:solidFill>
                                <a:srgbClr val="FEFFFE"/>
                              </a:solidFill>
                              <a:latin typeface="Cambria Math" panose="02040503050406030204" pitchFamily="18" charset="0"/>
                            </a:rPr>
                            <m:t>Sum</m:t>
                          </m:r>
                          <m:r>
                            <m:rPr>
                              <m:nor/>
                            </m:rPr>
                            <a:rPr sz="4400" i="1">
                              <a:solidFill>
                                <a:srgbClr val="FEFFFE"/>
                              </a:solidFill>
                              <a:latin typeface="Cambria Math" panose="02040503050406030204" pitchFamily="18" charset="0"/>
                            </a:rPr>
                            <m:t> </m:t>
                          </m:r>
                          <m:r>
                            <m:rPr>
                              <m:nor/>
                            </m:rPr>
                            <a:rPr sz="4400" i="1">
                              <a:solidFill>
                                <a:srgbClr val="FEFFFE"/>
                              </a:solidFill>
                              <a:latin typeface="Cambria Math" panose="02040503050406030204" pitchFamily="18" charset="0"/>
                            </a:rPr>
                            <m:t>of</m:t>
                          </m:r>
                          <m:r>
                            <m:rPr>
                              <m:nor/>
                            </m:rPr>
                            <a:rPr sz="4400" i="1">
                              <a:solidFill>
                                <a:srgbClr val="FEFFFE"/>
                              </a:solidFill>
                              <a:latin typeface="Cambria Math" panose="02040503050406030204" pitchFamily="18" charset="0"/>
                            </a:rPr>
                            <m:t> </m:t>
                          </m:r>
                          <m:r>
                            <m:rPr>
                              <m:nor/>
                            </m:rPr>
                            <a:rPr sz="4400" i="1">
                              <a:solidFill>
                                <a:srgbClr val="FEFFFE"/>
                              </a:solidFill>
                              <a:latin typeface="Cambria Math" panose="02040503050406030204" pitchFamily="18" charset="0"/>
                            </a:rPr>
                            <m:t>diagonal</m:t>
                          </m:r>
                          <m:r>
                            <m:rPr>
                              <m:nor/>
                            </m:rPr>
                            <a:rPr sz="4400" i="1">
                              <a:solidFill>
                                <a:srgbClr val="FEFFFE"/>
                              </a:solidFill>
                              <a:latin typeface="Cambria Math" panose="02040503050406030204" pitchFamily="18" charset="0"/>
                            </a:rPr>
                            <m:t> </m:t>
                          </m:r>
                          <m:r>
                            <m:rPr>
                              <m:nor/>
                            </m:rPr>
                            <a:rPr sz="4400" i="1">
                              <a:solidFill>
                                <a:srgbClr val="FEFFFE"/>
                              </a:solidFill>
                              <a:latin typeface="Cambria Math" panose="02040503050406030204" pitchFamily="18" charset="0"/>
                            </a:rPr>
                            <m:t>elements</m:t>
                          </m:r>
                        </m:num>
                        <m:den>
                          <m:r>
                            <m:rPr>
                              <m:nor/>
                            </m:rPr>
                            <a:rPr sz="4400" i="1">
                              <a:solidFill>
                                <a:srgbClr val="FEFFFE"/>
                              </a:solidFill>
                              <a:latin typeface="Cambria Math" panose="02040503050406030204" pitchFamily="18" charset="0"/>
                            </a:rPr>
                            <m:t>Sum</m:t>
                          </m:r>
                          <m:r>
                            <m:rPr>
                              <m:nor/>
                            </m:rPr>
                            <a:rPr sz="4400" i="1">
                              <a:solidFill>
                                <a:srgbClr val="FEFFFE"/>
                              </a:solidFill>
                              <a:latin typeface="Cambria Math" panose="02040503050406030204" pitchFamily="18" charset="0"/>
                            </a:rPr>
                            <m:t> </m:t>
                          </m:r>
                          <m:r>
                            <m:rPr>
                              <m:nor/>
                            </m:rPr>
                            <a:rPr sz="4400" i="1">
                              <a:solidFill>
                                <a:srgbClr val="FEFFFE"/>
                              </a:solidFill>
                              <a:latin typeface="Cambria Math" panose="02040503050406030204" pitchFamily="18" charset="0"/>
                            </a:rPr>
                            <m:t>of</m:t>
                          </m:r>
                          <m:r>
                            <m:rPr>
                              <m:nor/>
                            </m:rPr>
                            <a:rPr sz="4400" i="1">
                              <a:solidFill>
                                <a:srgbClr val="FEFFFE"/>
                              </a:solidFill>
                              <a:latin typeface="Cambria Math" panose="02040503050406030204" pitchFamily="18" charset="0"/>
                            </a:rPr>
                            <m:t> </m:t>
                          </m:r>
                          <m:r>
                            <m:rPr>
                              <m:nor/>
                            </m:rPr>
                            <a:rPr sz="4400" i="1">
                              <a:solidFill>
                                <a:srgbClr val="FEFFFE"/>
                              </a:solidFill>
                              <a:latin typeface="Cambria Math" panose="02040503050406030204" pitchFamily="18" charset="0"/>
                            </a:rPr>
                            <m:t>all</m:t>
                          </m:r>
                          <m:r>
                            <m:rPr>
                              <m:nor/>
                            </m:rPr>
                            <a:rPr sz="4400" i="1">
                              <a:solidFill>
                                <a:srgbClr val="FEFFFE"/>
                              </a:solidFill>
                              <a:latin typeface="Cambria Math" panose="02040503050406030204" pitchFamily="18" charset="0"/>
                            </a:rPr>
                            <m:t> </m:t>
                          </m:r>
                          <m:r>
                            <m:rPr>
                              <m:nor/>
                            </m:rPr>
                            <a:rPr sz="4400" i="1">
                              <a:solidFill>
                                <a:srgbClr val="FEFFFE"/>
                              </a:solidFill>
                              <a:latin typeface="Cambria Math" panose="02040503050406030204" pitchFamily="18" charset="0"/>
                            </a:rPr>
                            <m:t>elements</m:t>
                          </m:r>
                        </m:den>
                      </m:f>
                    </m:oMath>
                  </m:oMathPara>
                </a14:m>
                <a:endParaRPr sz="4400">
                  <a:solidFill>
                    <a:srgbClr val="FFFFFF"/>
                  </a:solidFill>
                </a:endParaRPr>
              </a:p>
            </p:txBody>
          </p:sp>
        </mc:Choice>
        <mc:Fallback>
          <p:sp>
            <p:nvSpPr>
              <p:cNvPr id="200" name="Equation"/>
              <p:cNvSpPr txBox="1">
                <a:spLocks noRot="1" noChangeAspect="1" noMove="1" noResize="1" noEditPoints="1" noAdjustHandles="1" noChangeArrowheads="1" noChangeShapeType="1" noTextEdit="1"/>
              </p:cNvSpPr>
              <p:nvPr/>
            </p:nvSpPr>
            <p:spPr>
              <a:xfrm>
                <a:off x="1150516" y="3302660"/>
                <a:ext cx="10099503" cy="1253948"/>
              </a:xfrm>
              <a:prstGeom prst="rect">
                <a:avLst/>
              </a:prstGeom>
              <a:blipFill>
                <a:blip r:embed="rId4"/>
                <a:stretch>
                  <a:fillRect b="-2439"/>
                </a:stretch>
              </a:blipFill>
              <a:ln w="12700">
                <a:miter lim="400000"/>
              </a:ln>
            </p:spPr>
            <p:txBody>
              <a:bodyPr/>
              <a:lstStyle/>
              <a:p>
                <a:r>
                  <a:rPr lang="en-US">
                    <a:noFill/>
                  </a:rPr>
                  <a:t> </a:t>
                </a:r>
              </a:p>
            </p:txBody>
          </p:sp>
        </mc:Fallback>
      </mc:AlternateContent>
      <p:sp>
        <p:nvSpPr>
          <p:cNvPr id="201" name="= ~ 72.76%…"/>
          <p:cNvSpPr txBox="1"/>
          <p:nvPr/>
        </p:nvSpPr>
        <p:spPr>
          <a:xfrm>
            <a:off x="548693" y="4754771"/>
            <a:ext cx="10844080" cy="814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58800" indent="-558800">
              <a:buClr>
                <a:srgbClr val="FFFFFF"/>
              </a:buClr>
              <a:buSzPct val="100000"/>
              <a:buChar char="•"/>
            </a:pPr>
            <a:r>
              <a:t>                = ~ 72.76%</a:t>
            </a:r>
          </a:p>
          <a:p>
            <a:pPr marL="558800" indent="-558800">
              <a:buClr>
                <a:srgbClr val="FFFFFF"/>
              </a:buClr>
              <a:buSzPct val="100000"/>
              <a:buChar char="•"/>
            </a:pPr>
            <a:r>
              <a:t>The accuracy achieved is higher than the one they achieved in the predefined model in the </a:t>
            </a:r>
            <a:r>
              <a:rPr u="sng">
                <a:hlinkClick r:id="rId5"/>
              </a:rPr>
              <a:t>paper</a:t>
            </a:r>
            <a:r>
              <a:t>.</a:t>
            </a:r>
          </a:p>
          <a:p>
            <a:pPr marL="558800" indent="-558800">
              <a:buClr>
                <a:srgbClr val="FFFFFF"/>
              </a:buClr>
              <a:buSzPct val="100000"/>
              <a:buChar char="•"/>
            </a:pPr>
            <a:r>
              <a:t>As of now we tried to achieve good performance in one model(LSTM) used in Ensemble learning(for vocal extraction).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Accompaniment(CNN):…"/>
          <p:cNvSpPr txBox="1"/>
          <p:nvPr/>
        </p:nvSpPr>
        <p:spPr>
          <a:xfrm>
            <a:off x="548693" y="607259"/>
            <a:ext cx="10687798" cy="7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58800" indent="-558800">
              <a:buClr>
                <a:srgbClr val="FFFFFF"/>
              </a:buClr>
              <a:buSzPct val="100000"/>
              <a:buChar char="•"/>
              <a:defRPr b="1" u="sng"/>
            </a:pPr>
            <a:r>
              <a:t>Accompaniment(CNN):</a:t>
            </a:r>
          </a:p>
          <a:p>
            <a:pPr marL="558800" indent="-558800">
              <a:buClr>
                <a:srgbClr val="FFFFFF"/>
              </a:buClr>
              <a:buSzPct val="100000"/>
              <a:buChar char="•"/>
            </a:pPr>
            <a:r>
              <a:t>Now we need to separate instruments from music using CNN model for using it in ensemble learning.</a:t>
            </a:r>
          </a:p>
          <a:p>
            <a:pPr marL="558800" indent="-558800">
              <a:buClr>
                <a:srgbClr val="FFFFFF"/>
              </a:buClr>
              <a:buSzPct val="100000"/>
              <a:buChar char="•"/>
            </a:pPr>
            <a:r>
              <a:t>Added 6 convolution layers and 2 dense layers to the CNN model for better learning.</a:t>
            </a:r>
          </a:p>
        </p:txBody>
      </p:sp>
      <p:pic>
        <p:nvPicPr>
          <p:cNvPr id="204" name="PNG image.png" descr="PNG image.png"/>
          <p:cNvPicPr>
            <a:picLocks noChangeAspect="1"/>
          </p:cNvPicPr>
          <p:nvPr/>
        </p:nvPicPr>
        <p:blipFill>
          <a:blip r:embed="rId2"/>
          <a:stretch>
            <a:fillRect/>
          </a:stretch>
        </p:blipFill>
        <p:spPr>
          <a:xfrm>
            <a:off x="11609586" y="1685494"/>
            <a:ext cx="12642125" cy="11246357"/>
          </a:xfrm>
          <a:prstGeom prst="rect">
            <a:avLst/>
          </a:prstGeom>
          <a:ln w="12700">
            <a:miter lim="400000"/>
          </a:ln>
        </p:spPr>
      </p:pic>
      <p:sp>
        <p:nvSpPr>
          <p:cNvPr id="205" name="From the following confusion matrix we can get the accuracy as “74.7%” which is reasonably higher performance.…"/>
          <p:cNvSpPr txBox="1"/>
          <p:nvPr/>
        </p:nvSpPr>
        <p:spPr>
          <a:xfrm>
            <a:off x="429708" y="7836686"/>
            <a:ext cx="10558170" cy="50233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30859" indent="-530859" defTabSz="2316479">
              <a:spcBef>
                <a:spcPts val="2200"/>
              </a:spcBef>
              <a:buClr>
                <a:srgbClr val="FFFFFF"/>
              </a:buClr>
              <a:buSzPct val="100000"/>
              <a:buChar char="•"/>
              <a:defRPr sz="4560"/>
            </a:pPr>
            <a:r>
              <a:rPr dirty="0"/>
              <a:t>From the following confusion matrix we can get the accuracy as “</a:t>
            </a:r>
            <a:r>
              <a:rPr u="sng" dirty="0">
                <a:hlinkClick r:id="rId3"/>
              </a:rPr>
              <a:t>74.7%</a:t>
            </a:r>
            <a:r>
              <a:rPr dirty="0"/>
              <a:t>” which is reasonably higher performance.</a:t>
            </a:r>
          </a:p>
          <a:p>
            <a:pPr marL="530859" indent="-530859" defTabSz="2316479">
              <a:spcBef>
                <a:spcPts val="2200"/>
              </a:spcBef>
              <a:buClr>
                <a:srgbClr val="FFFFFF"/>
              </a:buClr>
              <a:buSzPct val="100000"/>
              <a:buChar char="•"/>
              <a:defRPr sz="4560"/>
            </a:pPr>
            <a:r>
              <a:rPr dirty="0"/>
              <a:t>Now we use both of the models for music genre classification.</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Ensemble learning:…"/>
          <p:cNvSpPr txBox="1"/>
          <p:nvPr/>
        </p:nvSpPr>
        <p:spPr>
          <a:xfrm>
            <a:off x="749236" y="603340"/>
            <a:ext cx="10662895" cy="129381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502919" indent="-502919" defTabSz="2194559">
              <a:spcBef>
                <a:spcPts val="2100"/>
              </a:spcBef>
              <a:buClr>
                <a:srgbClr val="FFFFFF"/>
              </a:buClr>
              <a:buSzPct val="100000"/>
              <a:buChar char="•"/>
              <a:defRPr sz="4319" b="1" u="sng"/>
            </a:pPr>
            <a:r>
              <a:rPr dirty="0"/>
              <a:t>Ensemble learning:</a:t>
            </a:r>
          </a:p>
          <a:p>
            <a:pPr marL="502919" indent="-502919" defTabSz="2194559">
              <a:spcBef>
                <a:spcPts val="2100"/>
              </a:spcBef>
              <a:buClr>
                <a:srgbClr val="FFFFFF"/>
              </a:buClr>
              <a:buSzPct val="100000"/>
              <a:buChar char="•"/>
              <a:defRPr sz="4319"/>
            </a:pPr>
            <a:r>
              <a:rPr dirty="0"/>
              <a:t>Here we use 2 models to improve the performance of the final classification model.</a:t>
            </a:r>
          </a:p>
          <a:p>
            <a:pPr marL="502919" indent="-502919" defTabSz="2194559">
              <a:spcBef>
                <a:spcPts val="2100"/>
              </a:spcBef>
              <a:buClr>
                <a:srgbClr val="FFFFFF"/>
              </a:buClr>
              <a:buSzPct val="100000"/>
              <a:buChar char="•"/>
              <a:defRPr sz="4319"/>
            </a:pPr>
            <a:r>
              <a:rPr dirty="0"/>
              <a:t>We use two methods in this learning strategy, they are bagging and Stacking.</a:t>
            </a:r>
          </a:p>
          <a:p>
            <a:pPr marL="502919" indent="-502919" defTabSz="2194559">
              <a:spcBef>
                <a:spcPts val="2100"/>
              </a:spcBef>
              <a:buClr>
                <a:srgbClr val="FFFFFF"/>
              </a:buClr>
              <a:buSzPct val="100000"/>
              <a:buChar char="•"/>
              <a:defRPr sz="4319"/>
            </a:pPr>
            <a:r>
              <a:rPr dirty="0"/>
              <a:t>Bagging is further divided into soft voting and mean value.</a:t>
            </a:r>
          </a:p>
          <a:p>
            <a:pPr marL="502919" indent="-502919" defTabSz="2194559">
              <a:spcBef>
                <a:spcPts val="2100"/>
              </a:spcBef>
              <a:buClr>
                <a:srgbClr val="FFFFFF"/>
              </a:buClr>
              <a:buSzPct val="100000"/>
              <a:buChar char="•"/>
              <a:defRPr sz="4319"/>
            </a:pPr>
            <a:r>
              <a:rPr dirty="0"/>
              <a:t>Here </a:t>
            </a:r>
            <a:r>
              <a:rPr dirty="0" err="1"/>
              <a:t>i</a:t>
            </a:r>
            <a:r>
              <a:rPr dirty="0"/>
              <a:t> have tried with different weights and used [0.33, 0.67] as weights for accompaniment and vocal.</a:t>
            </a:r>
          </a:p>
          <a:p>
            <a:pPr marL="502919" indent="-502919" defTabSz="2194559">
              <a:spcBef>
                <a:spcPts val="2100"/>
              </a:spcBef>
              <a:buClr>
                <a:srgbClr val="FFFFFF"/>
              </a:buClr>
              <a:buSzPct val="100000"/>
              <a:buChar char="•"/>
              <a:defRPr sz="4319"/>
            </a:pPr>
            <a:r>
              <a:rPr dirty="0"/>
              <a:t>Used 6 dense layers(including output layer) for DNN and achieved an accuracy of “</a:t>
            </a:r>
            <a:r>
              <a:rPr u="sng" dirty="0">
                <a:hlinkClick r:id="rId2"/>
              </a:rPr>
              <a:t>80.84%</a:t>
            </a:r>
            <a:r>
              <a:rPr dirty="0"/>
              <a:t>” for 400 epochs</a:t>
            </a:r>
          </a:p>
        </p:txBody>
      </p:sp>
      <p:pic>
        <p:nvPicPr>
          <p:cNvPr id="208" name="PNG image.png" descr="PNG image.png"/>
          <p:cNvPicPr>
            <a:picLocks noChangeAspect="1"/>
          </p:cNvPicPr>
          <p:nvPr/>
        </p:nvPicPr>
        <p:blipFill>
          <a:blip r:embed="rId3"/>
          <a:stretch>
            <a:fillRect/>
          </a:stretch>
        </p:blipFill>
        <p:spPr>
          <a:xfrm>
            <a:off x="11497541" y="1021775"/>
            <a:ext cx="12610703" cy="11218405"/>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References"/>
          <p:cNvSpPr txBox="1">
            <a:spLocks noGrp="1"/>
          </p:cNvSpPr>
          <p:nvPr>
            <p:ph type="title"/>
          </p:nvPr>
        </p:nvSpPr>
        <p:spPr>
          <a:prstGeom prst="rect">
            <a:avLst/>
          </a:prstGeom>
        </p:spPr>
        <p:txBody>
          <a:bodyPr/>
          <a:lstStyle>
            <a:lvl1pPr>
              <a:defRPr>
                <a:gradFill flip="none" rotWithShape="1">
                  <a:gsLst>
                    <a:gs pos="0">
                      <a:srgbClr val="FFFFFF"/>
                    </a:gs>
                    <a:gs pos="100000">
                      <a:srgbClr val="333333"/>
                    </a:gs>
                  </a:gsLst>
                  <a:lin ang="5400000" scaled="0"/>
                </a:gradFill>
              </a:defRPr>
            </a:lvl1pPr>
          </a:lstStyle>
          <a:p>
            <a:r>
              <a:t>References</a:t>
            </a:r>
          </a:p>
        </p:txBody>
      </p:sp>
      <p:sp>
        <p:nvSpPr>
          <p:cNvPr id="211" name="Minz Won, Janne Spijkervet, Keunwoo Choi &quot;Music Classification: Beyond Supervised Learning, Towards Real-world Application&quot;…"/>
          <p:cNvSpPr txBox="1">
            <a:spLocks noGrp="1"/>
          </p:cNvSpPr>
          <p:nvPr>
            <p:ph type="body" idx="21"/>
          </p:nvPr>
        </p:nvSpPr>
        <p:spPr>
          <a:xfrm>
            <a:off x="1270000" y="2727627"/>
            <a:ext cx="21844000" cy="413037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458914" indent="-458914" defTabSz="602615">
              <a:buSzPct val="50000"/>
              <a:buBlip>
                <a:blip r:embed="rId2"/>
              </a:buBlip>
              <a:defRPr sz="3942"/>
            </a:pPr>
            <a:r>
              <a:rPr u="sng" dirty="0">
                <a:hlinkClick r:id="rId3"/>
              </a:rPr>
              <a:t>Minz Won, Janne </a:t>
            </a:r>
            <a:r>
              <a:rPr u="sng" dirty="0" err="1">
                <a:hlinkClick r:id="rId3"/>
              </a:rPr>
              <a:t>Spijkervet</a:t>
            </a:r>
            <a:r>
              <a:rPr u="sng" dirty="0">
                <a:hlinkClick r:id="rId3"/>
              </a:rPr>
              <a:t>, </a:t>
            </a:r>
            <a:r>
              <a:rPr u="sng" dirty="0" err="1">
                <a:hlinkClick r:id="rId3"/>
              </a:rPr>
              <a:t>Keunwoo</a:t>
            </a:r>
            <a:r>
              <a:rPr u="sng" dirty="0">
                <a:hlinkClick r:id="rId3"/>
              </a:rPr>
              <a:t> Choi "Music Classification: Beyond Supervised Learning, Towards Real-world Application"</a:t>
            </a:r>
          </a:p>
          <a:p>
            <a:pPr marL="458914" indent="-458914" defTabSz="602615">
              <a:buSzPct val="50000"/>
              <a:buBlip>
                <a:blip r:embed="rId2"/>
              </a:buBlip>
              <a:defRPr sz="3942"/>
            </a:pPr>
            <a:r>
              <a:rPr u="sng" dirty="0">
                <a:hlinkClick r:id="rId4"/>
              </a:rPr>
              <a:t>Yichen Liu, Abhijit Dasgupta, </a:t>
            </a:r>
            <a:r>
              <a:rPr u="sng" dirty="0" err="1">
                <a:hlinkClick r:id="rId4"/>
              </a:rPr>
              <a:t>Qiwei</a:t>
            </a:r>
            <a:r>
              <a:rPr u="sng" dirty="0">
                <a:hlinkClick r:id="rId4"/>
              </a:rPr>
              <a:t> He “Music Genre Classification: Ensemble Learning with Subcomponents-level Attention”</a:t>
            </a:r>
          </a:p>
          <a:p>
            <a:pPr defTabSz="602615">
              <a:buSzPct val="50000"/>
              <a:defRPr sz="3942"/>
            </a:pPr>
            <a:endParaRPr u="sng" dirty="0">
              <a:hlinkClick r:id="rId5"/>
            </a:endParaRPr>
          </a:p>
        </p:txBody>
      </p:sp>
      <p:sp>
        <p:nvSpPr>
          <p:cNvPr id="212" name="NOTE :…"/>
          <p:cNvSpPr txBox="1">
            <a:spLocks noGrp="1"/>
          </p:cNvSpPr>
          <p:nvPr>
            <p:ph type="body" sz="half" idx="1"/>
          </p:nvPr>
        </p:nvSpPr>
        <p:spPr>
          <a:xfrm>
            <a:off x="1270000" y="8024868"/>
            <a:ext cx="21844000" cy="4675132"/>
          </a:xfrm>
          <a:prstGeom prst="rect">
            <a:avLst/>
          </a:prstGeom>
        </p:spPr>
        <p:txBody>
          <a:bodyPr/>
          <a:lstStyle/>
          <a:p>
            <a:pPr defTabSz="503555">
              <a:spcBef>
                <a:spcPts val="1400"/>
              </a:spcBef>
              <a:defRPr sz="3355" b="1" u="sng" spc="-33"/>
            </a:pPr>
            <a:r>
              <a:t>NOTE :</a:t>
            </a:r>
          </a:p>
          <a:p>
            <a:pPr defTabSz="503555">
              <a:spcBef>
                <a:spcPts val="1400"/>
              </a:spcBef>
              <a:defRPr sz="3355" spc="-33"/>
            </a:pPr>
            <a:r>
              <a:t>Since all the trained </a:t>
            </a:r>
            <a:r>
              <a:rPr u="sng">
                <a:hlinkClick r:id="rId6"/>
              </a:rPr>
              <a:t>models</a:t>
            </a:r>
            <a:r>
              <a:t> are saved, let’s utilize them to deploy a web application. This application will take a song as input and prompt the user to select a specific learning strategy. Once the song is uploaded, it will be processed, and MFCC features will be extracted. These features will then be the input to the models, and the output will be the genre name.</a:t>
            </a:r>
          </a:p>
          <a:p>
            <a:pPr defTabSz="503555">
              <a:spcBef>
                <a:spcPts val="1400"/>
              </a:spcBef>
              <a:defRPr sz="3355" spc="-33"/>
            </a:pPr>
            <a:endParaRPr/>
          </a:p>
          <a:p>
            <a:pPr defTabSz="503555">
              <a:spcBef>
                <a:spcPts val="1400"/>
              </a:spcBef>
              <a:defRPr sz="3355" u="sng" spc="-33"/>
            </a:pPr>
            <a:r>
              <a:rPr u="none"/>
              <a:t>Here’s the link to the web application: </a:t>
            </a:r>
            <a:r>
              <a:rPr>
                <a:hlinkClick r:id="rId7"/>
              </a:rPr>
              <a:t>https://jigneshbotla-music-genre-classification-app-i0kjjk.streamlit.app/</a:t>
            </a:r>
          </a:p>
        </p:txBody>
      </p:sp>
    </p:spTree>
  </p:cSld>
  <p:clrMapOvr>
    <a:masterClrMapping/>
  </p:clrMapOvr>
  <mc:AlternateContent xmlns:mc="http://schemas.openxmlformats.org/markup-compatibility/2006" xmlns:p14="http://schemas.microsoft.com/office/powerpoint/2010/main">
    <mc:Choice Requires="p14">
      <p:transition spd="slow" p14:dur="800">
        <p:dissolve/>
      </p:transition>
    </mc:Choice>
    <mc:Fallback xmlns:a14="http://schemas.microsoft.com/office/drawing/2010/main" xmlns:m="http://schemas.openxmlformats.org/officeDocument/2006/math" xmlns="">
      <p:transition spd="med">
        <p:fade/>
      </p:transition>
    </mc:Fallback>
  </mc:AlternateContent>
</p:sld>
</file>

<file path=ppt/theme/theme1.xml><?xml version="1.0" encoding="utf-8"?>
<a:theme xmlns:a="http://schemas.openxmlformats.org/drawingml/2006/main" name="22_ColorGradient">
  <a:themeElements>
    <a:clrScheme name="22_ColorGradient">
      <a:dk1>
        <a:srgbClr val="D000FF"/>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Graphik Semibold"/>
        <a:ea typeface="Graphik Semibold"/>
        <a:cs typeface="Graphik Semibold"/>
      </a:majorFont>
      <a:minorFont>
        <a:latin typeface="Graphik Semibold"/>
        <a:ea typeface="Graphik Semibold"/>
        <a:cs typeface="Graphik Semibold"/>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Graphik Medium"/>
            <a:ea typeface="Graphik Medium"/>
            <a:cs typeface="Graphik 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2_ColorGradient">
  <a:themeElements>
    <a:clrScheme name="22_ColorGradien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Graphik Semibold"/>
        <a:ea typeface="Graphik Semibold"/>
        <a:cs typeface="Graphik Semibold"/>
      </a:majorFont>
      <a:minorFont>
        <a:latin typeface="Graphik Semibold"/>
        <a:ea typeface="Graphik Semibold"/>
        <a:cs typeface="Graphik Semibold"/>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Graphik Medium"/>
            <a:ea typeface="Graphik Medium"/>
            <a:cs typeface="Graphik 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1143</Words>
  <Application>Microsoft Office PowerPoint</Application>
  <PresentationFormat>Custom</PresentationFormat>
  <Paragraphs>71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Cambria Math</vt:lpstr>
      <vt:lpstr>Graphik</vt:lpstr>
      <vt:lpstr>Graphik Medium</vt:lpstr>
      <vt:lpstr>Graphik Semibold</vt:lpstr>
      <vt:lpstr>Helvetica Neue</vt:lpstr>
      <vt:lpstr>22_ColorGradient</vt:lpstr>
      <vt:lpstr>Music Genre Classification </vt:lpstr>
      <vt:lpstr>Genre classification using supervised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Manichandra Ganapathri</cp:lastModifiedBy>
  <cp:revision>1</cp:revision>
  <dcterms:modified xsi:type="dcterms:W3CDTF">2025-11-06T10:39:43Z</dcterms:modified>
</cp:coreProperties>
</file>